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db4b2e6a7e41ff" /><Relationship Type="http://schemas.openxmlformats.org/officeDocument/2006/relationships/extended-properties" Target="/docProps/app.xml" Id="R1d04b93df29e4b8e" /><Relationship Type="http://schemas.openxmlformats.org/officeDocument/2006/relationships/officeDocument" Target="/ppt/presentation.xml" Id="R028d4dc6db1c42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756fc1b2754002"/>
  </p:sldMasterIdLst>
  <p:notesMasterIdLst>
    <p:notesMasterId xmlns:r="http://schemas.openxmlformats.org/officeDocument/2006/relationships" r:id="R42c93946fd294c13"/>
  </p:notesMasterIdLst>
  <p:sldIdLst>
    <p:sldId xmlns:r="http://schemas.openxmlformats.org/officeDocument/2006/relationships" id="256" r:id="Rd51254300675495a"/>
    <p:sldId xmlns:r="http://schemas.openxmlformats.org/officeDocument/2006/relationships" id="257" r:id="Rc81673f3f7bb49f0"/>
    <p:sldId xmlns:r="http://schemas.openxmlformats.org/officeDocument/2006/relationships" id="258" r:id="R5ddb7514346e4e8c"/>
    <p:sldId xmlns:r="http://schemas.openxmlformats.org/officeDocument/2006/relationships" id="259" r:id="Rf4a1e998164849d4"/>
    <p:sldId xmlns:r="http://schemas.openxmlformats.org/officeDocument/2006/relationships" id="260" r:id="Rab8e60aeb66f4c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0068e67c6b457c" /><Relationship Type="http://schemas.openxmlformats.org/officeDocument/2006/relationships/slideMaster" Target="/ppt/slideMasters/slideMaster1.xml" Id="R95756fc1b2754002" /><Relationship Type="http://schemas.openxmlformats.org/officeDocument/2006/relationships/notesMaster" Target="/ppt/notesMasters/notesMaster1.xml" Id="R42c93946fd294c13" /><Relationship Type="http://schemas.openxmlformats.org/officeDocument/2006/relationships/presProps" Target="/ppt/presProps.xml" Id="R44f62b4849bd44c6" /><Relationship Type="http://schemas.openxmlformats.org/officeDocument/2006/relationships/tableStyles" Target="/ppt/tableStyles.xml" Id="R72c2f03fbb074b51" /><Relationship Type="http://schemas.openxmlformats.org/officeDocument/2006/relationships/slide" Target="/ppt/slides/slide1.xml" Id="Rd51254300675495a" /><Relationship Type="http://schemas.openxmlformats.org/officeDocument/2006/relationships/slide" Target="/ppt/slides/slide2.xml" Id="Rc81673f3f7bb49f0" /><Relationship Type="http://schemas.openxmlformats.org/officeDocument/2006/relationships/slide" Target="/ppt/slides/slide3.xml" Id="R5ddb7514346e4e8c" /><Relationship Type="http://schemas.openxmlformats.org/officeDocument/2006/relationships/slide" Target="/ppt/slides/slide4.xml" Id="Rf4a1e998164849d4" /><Relationship Type="http://schemas.openxmlformats.org/officeDocument/2006/relationships/slide" Target="/ppt/slides/slide5.xml" Id="Rab8e60aeb66f4c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f9f1afca3d42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34ba28ec2b4c71" /><Relationship Type="http://schemas.openxmlformats.org/officeDocument/2006/relationships/notesMaster" Target="/ppt/notesMasters/notesMaster1.xml" Id="Ra03bb0b4fd894b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d545bce24041cc" /><Relationship Type="http://schemas.openxmlformats.org/officeDocument/2006/relationships/notesMaster" Target="/ppt/notesMasters/notesMaster1.xml" Id="R14e9f8bea05f48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a0a9f9e3874d53" /><Relationship Type="http://schemas.openxmlformats.org/officeDocument/2006/relationships/notesMaster" Target="/ppt/notesMasters/notesMaster1.xml" Id="R1953c2a9f6424c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8d238af9a54b6d" /><Relationship Type="http://schemas.openxmlformats.org/officeDocument/2006/relationships/notesMaster" Target="/ppt/notesMasters/notesMaster1.xml" Id="Rf8c3879255ae47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83bb8153fb49ea" /><Relationship Type="http://schemas.openxmlformats.org/officeDocument/2006/relationships/notesMaster" Target="/ppt/notesMasters/notesMaster1.xml" Id="Re8e8fafcea3242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后台截图：docs/project-presentation/admin-screenshots/original/01-数据概览.png</a:t>
            </a:r>
          </a:p>
          <a:p xmlns:a="http://schemas.openxmlformats.org/drawingml/2006/main">
            <a:r>
              <a:t>内容依据：backend/admin-src/src/App.tsx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后台截图：docs/project-presentation/admin-screenshots/original/02-首页运营.png</a:t>
            </a:r>
          </a:p>
          <a:p xmlns:a="http://schemas.openxmlformats.org/drawingml/2006/main">
            <a:r>
              <a:t>后台截图：docs/project-presentation/admin-screenshots/original/03-内容资源.png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后台截图：docs/project-presentation/admin-screenshots/original/04-农品预订.png</a:t>
            </a:r>
          </a:p>
          <a:p xmlns:a="http://schemas.openxmlformats.org/drawingml/2006/main">
            <a:r>
              <a:t>后台截图：docs/project-presentation/admin-screenshots/original/05-采摘预约.png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后台截图：docs/project-presentation/admin-screenshots/original/06-直播设备.png</a:t>
            </a:r>
          </a:p>
          <a:p xmlns:a="http://schemas.openxmlformats.org/drawingml/2006/main">
            <a:r>
              <a:t>后台截图：docs/project-presentation/admin-screenshots/original/07-用户反馈.png</a:t>
            </a:r>
          </a:p>
          <a:p xmlns:a="http://schemas.openxmlformats.org/drawingml/2006/main">
            <a:r>
              <a:t>后台截图：docs/project-presentation/admin-screenshots/original/09-操作日志.png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后台截图：docs/project-presentation/admin-screenshots/original/08-系统设置.png</a:t>
            </a:r>
          </a:p>
          <a:p xmlns:a="http://schemas.openxmlformats.org/drawingml/2006/main">
            <a:r>
              <a:t>内容依据：backend/server.js 中第三方配置分组。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2737cb9354f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fa6a02a93444f2" /><Relationship Type="http://schemas.openxmlformats.org/officeDocument/2006/relationships/slideLayout" Target="/ppt/slideLayouts/slideLayout1.xml" Id="Raf73f74c8d6542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73f74c8d6542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4a00a96e9435b" /><Relationship Type="http://schemas.openxmlformats.org/officeDocument/2006/relationships/image" Target="/ppt/media/image.png" Id="R8f9745f633c0489a" /><Relationship Type="http://schemas.openxmlformats.org/officeDocument/2006/relationships/notesSlide" Target="/ppt/notesSlides/notesSlide1.xml" Id="Rc15932c0b97e4d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90ac967ead45d6" /><Relationship Type="http://schemas.openxmlformats.org/officeDocument/2006/relationships/image" Target="/ppt/media/image2.png" Id="R648b13f5a1fd477d" /><Relationship Type="http://schemas.openxmlformats.org/officeDocument/2006/relationships/image" Target="/ppt/media/image3.png" Id="R1f24bbe7b7ad4d95" /><Relationship Type="http://schemas.openxmlformats.org/officeDocument/2006/relationships/notesSlide" Target="/ppt/notesSlides/notesSlide2.xml" Id="Rae5f7163674946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058c71b66459a" /><Relationship Type="http://schemas.openxmlformats.org/officeDocument/2006/relationships/image" Target="/ppt/media/image4.png" Id="R7b346c19e43c4a42" /><Relationship Type="http://schemas.openxmlformats.org/officeDocument/2006/relationships/image" Target="/ppt/media/image5.png" Id="R2381a86e9497443b" /><Relationship Type="http://schemas.openxmlformats.org/officeDocument/2006/relationships/notesSlide" Target="/ppt/notesSlides/notesSlide3.xml" Id="R592d37bebe0c47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800f3576540f1" /><Relationship Type="http://schemas.openxmlformats.org/officeDocument/2006/relationships/image" Target="/ppt/media/image6.png" Id="R6bd321eede2448f2" /><Relationship Type="http://schemas.openxmlformats.org/officeDocument/2006/relationships/image" Target="/ppt/media/image7.png" Id="Rb4e96ac205964327" /><Relationship Type="http://schemas.openxmlformats.org/officeDocument/2006/relationships/image" Target="/ppt/media/image8.png" Id="Rda9df9aeb1004a64" /><Relationship Type="http://schemas.openxmlformats.org/officeDocument/2006/relationships/notesSlide" Target="/ppt/notesSlides/notesSlide4.xml" Id="R30b4f96024f645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d3d138bed4dcf" /><Relationship Type="http://schemas.openxmlformats.org/officeDocument/2006/relationships/image" Target="/ppt/media/image9.png" Id="R3c79f9808c3345f5" /><Relationship Type="http://schemas.openxmlformats.org/officeDocument/2006/relationships/notesSlide" Target="/ppt/notesSlides/notesSlide5.xml" Id="R030b199c26974b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93736F-D9F3-46FB-B308-0FFB19C9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89C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9C3F"/>
                </a:solidFill>
                <a:latin typeface="Microsoft YaHei"/>
                <a:ea typeface="Microsoft YaHei"/>
                <a:cs typeface="Microsoft YaHei"/>
              </a:rPr>
              <a:t>后台管理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EEEC0-B587-401F-80B8-D86011CD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BFF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BFFFC"/>
                </a:solidFill>
                <a:latin typeface="Microsoft YaHei"/>
                <a:ea typeface="Microsoft YaHei"/>
                <a:cs typeface="Microsoft YaHei"/>
              </a:rPr>
              <a:t>运营工作台负责把小程序内容管起来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E95DF-C550-4EFF-9DCC-3C164AC3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CDE0DA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350" b="0">
                <a:solidFill>
                  <a:srgbClr val="CDE0DA"/>
                </a:solidFill>
                <a:latin typeface="Microsoft YaHei Light"/>
                <a:ea typeface="Microsoft YaHei Light"/>
                <a:cs typeface="Microsoft YaHei Light"/>
              </a:rPr>
              <a:t>数据概览、内容维护、订单处理和配置状态集中在同一个后台。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0CFF2-11EF-4360-804C-24994427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7581900" cy="48006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08201E"/>
          </a:solidFill>
          <a:ln xmlns:a="http://schemas.openxmlformats.org/drawingml/2006/main" w="9525">
            <a:solidFill>
              <a:srgbClr val="08201E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745f633c0489a"/>
          <a:srcRect xmlns:a="http://schemas.openxmlformats.org/drawingml/2006/main" l="51" t="0" r="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19300"/>
            <a:ext cx="7429500" cy="4648200"/>
          </a:xfrm>
          <a:prstGeom xmlns:a="http://schemas.openxmlformats.org/drawingml/2006/main" prst="roundRect">
            <a:avLst>
              <a:gd name="adj" fmla="val 163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B31E1-D6AD-40FE-9504-65E661A3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38350"/>
            <a:ext cx="2381250" cy="31813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53E3A"/>
          </a:solidFill>
          <a:ln xmlns:a="http://schemas.openxmlformats.org/drawingml/2006/main" w="9525">
            <a:solidFill>
              <a:srgbClr val="315F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F8E29-92F0-4E9B-9C30-D0920E5D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BFF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BFFFC"/>
                </a:solidFill>
                <a:latin typeface="Microsoft YaHei"/>
                <a:ea typeface="Microsoft YaHei"/>
                <a:cs typeface="Microsoft YaHei"/>
              </a:rPr>
              <a:t>核心运营入口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60C44-1C5C-4704-944B-1BEE8328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3F3A"/>
          </a:solidFill>
          <a:ln xmlns:a="http://schemas.openxmlformats.org/drawingml/2006/main" w="9525">
            <a:solidFill>
              <a:srgbClr val="315F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93644-8856-4B85-B53C-0DCF9346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099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BFF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BFFFC"/>
                </a:solidFill>
                <a:latin typeface="Microsoft YaHei"/>
                <a:ea typeface="Microsoft YaHei"/>
                <a:cs typeface="Microsoft YaHei"/>
              </a:rPr>
              <a:t>数据概览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348D1-F723-4DC5-B296-A94E53EC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7660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3F3A"/>
          </a:solidFill>
          <a:ln xmlns:a="http://schemas.openxmlformats.org/drawingml/2006/main" w="9525">
            <a:solidFill>
              <a:srgbClr val="315F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6968D-F7D2-45C7-A241-BEEF640C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7185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BFF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BFFFC"/>
                </a:solidFill>
                <a:latin typeface="Microsoft YaHei"/>
                <a:ea typeface="Microsoft YaHei"/>
                <a:cs typeface="Microsoft YaHei"/>
              </a:rPr>
              <a:t>首页运营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088BF-1D89-43C7-B3A0-E9F8A3A2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3F3A"/>
          </a:solidFill>
          <a:ln xmlns:a="http://schemas.openxmlformats.org/drawingml/2006/main" w="9525">
            <a:solidFill>
              <a:srgbClr val="315F5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67E203-0E03-43AB-B5CA-5E48DFBC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338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BFF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BFFFC"/>
                </a:solidFill>
                <a:latin typeface="Microsoft YaHei"/>
                <a:ea typeface="Microsoft YaHei"/>
                <a:cs typeface="Microsoft YaHei"/>
              </a:rPr>
              <a:t>内容资源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9F10CA-F590-4865-9A4F-06BCC864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3F3A"/>
          </a:solidFill>
          <a:ln xmlns:a="http://schemas.openxmlformats.org/drawingml/2006/main" w="9525">
            <a:solidFill>
              <a:srgbClr val="315F5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800287-E915-4051-96A8-A1E81370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9575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BFF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BFFFC"/>
                </a:solidFill>
                <a:latin typeface="Microsoft YaHei"/>
                <a:ea typeface="Microsoft YaHei"/>
                <a:cs typeface="Microsoft YaHei"/>
              </a:rPr>
              <a:t>订单预约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4DC18-7871-4C75-A8C4-1FB25123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6245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3F3A"/>
          </a:solidFill>
          <a:ln xmlns:a="http://schemas.openxmlformats.org/drawingml/2006/main" w="9525">
            <a:solidFill>
              <a:srgbClr val="315F5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82FEE-7CF5-4F3C-9A79-B4FEEF2D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577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BFF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BFFFC"/>
                </a:solidFill>
                <a:latin typeface="Microsoft YaHei"/>
                <a:ea typeface="Microsoft YaHei"/>
                <a:cs typeface="Microsoft YaHei"/>
              </a:rPr>
              <a:t>直播反馈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5DF708-EC39-4C49-84B5-331730F1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2440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3F3A"/>
          </a:solidFill>
          <a:ln xmlns:a="http://schemas.openxmlformats.org/drawingml/2006/main" w="9525">
            <a:solidFill>
              <a:srgbClr val="315F5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794B0C-F605-4CEE-901F-2901D3F9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1965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BFF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BFFFC"/>
                </a:solidFill>
                <a:latin typeface="Microsoft YaHei"/>
                <a:ea typeface="Microsoft YaHei"/>
                <a:cs typeface="Microsoft YaHei"/>
              </a:rPr>
              <a:t>系统设置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95140B-0E79-4E6F-BAD4-2E966122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626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C3F"/>
          </a:solidFill>
          <a:ln xmlns:a="http://schemas.openxmlformats.org/drawingml/2006/main" w="0">
            <a:solidFill>
              <a:srgbClr val="C89C3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ED7B60-B043-48D1-8472-41B26360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912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DCEAE6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500" b="0">
                <a:solidFill>
                  <a:srgbClr val="DCEAE6"/>
                </a:solidFill>
                <a:latin typeface="Microsoft YaHei Light"/>
                <a:ea typeface="Microsoft YaHei Light"/>
                <a:cs typeface="Microsoft YaHei Light"/>
              </a:rPr>
              <a:t>后台不是展示页，而是运营人员每天要用的控制台。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4D6130-DB89-42C4-83D2-978C0718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CDE0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DE0D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368161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B8F30-A888-4CDA-A8C9-FC0CC60E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rPr>
              <a:t>内容运营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25A46-0587-4E84-9D05-34C05DCD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7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D3A"/>
                </a:solidFill>
                <a:latin typeface="Microsoft YaHei"/>
                <a:ea typeface="Microsoft YaHei"/>
                <a:cs typeface="Microsoft YaHei"/>
              </a:rPr>
              <a:t>首页和内容资源可以持续调整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B38AB-A837-4ADE-B7E0-A7E826FF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F7D78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350" b="0">
                <a:solidFill>
                  <a:srgbClr val="5F7D78"/>
                </a:solidFill>
                <a:latin typeface="Microsoft YaHei Light"/>
                <a:ea typeface="Microsoft YaHei Light"/>
                <a:cs typeface="Microsoft YaHei Light"/>
              </a:rPr>
              <a:t>轮播、入口、推荐内容、景点路线和地图点位由后台维护。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DEE6B-BEED-4EC1-B0F0-9C57F98B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5486400" cy="34861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BFFFC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b13f5a1fd477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057400"/>
            <a:ext cx="5334000" cy="3333750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2A8E9-EE51-49FF-A444-189FE531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81200"/>
            <a:ext cx="5486400" cy="34861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BFFFC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4bbe7b7ad4d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2057400"/>
            <a:ext cx="5334000" cy="3333750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09A42-00B5-42B4-B76E-81B63552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657850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BFFFC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F834C-88F6-43EE-AE48-3993DDCE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531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rPr>
              <a:t>首页运营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D0302-C9F1-40BA-A394-319368D1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57850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BFFFC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F52D8C-9F69-4F5B-B1E1-043A2EF6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7531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rPr>
              <a:t>内容资源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4468D-6E31-47AF-921D-D30D702A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5F7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F7D7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365613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2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FB5F75-A747-40B2-A171-4C5E615D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rPr>
              <a:t>业务处理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FAD4B-0069-49E0-B68C-B308B697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7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D3A"/>
                </a:solidFill>
                <a:latin typeface="Microsoft YaHei"/>
                <a:ea typeface="Microsoft YaHei"/>
                <a:cs typeface="Microsoft YaHei"/>
              </a:rPr>
              <a:t>订单和预约要能被后台接住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87A698-A3DC-442F-A7FF-1308B5CA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F7D78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350" b="0">
                <a:solidFill>
                  <a:srgbClr val="5F7D78"/>
                </a:solidFill>
                <a:latin typeface="Microsoft YaHei Light"/>
                <a:ea typeface="Microsoft YaHei Light"/>
                <a:cs typeface="Microsoft YaHei Light"/>
              </a:rPr>
              <a:t>农品预订、采摘预约和研学报名进入后台后，可以继续确认、处理和核销。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79602-8618-4EE1-A9AA-F376A2E1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5257800" cy="3343275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BFFFC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46c19e43c4a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019300"/>
            <a:ext cx="5105400" cy="3190875"/>
          </a:xfrm>
          <a:prstGeom xmlns:a="http://schemas.openxmlformats.org/drawingml/2006/main" prst="roundRect">
            <a:avLst>
              <a:gd name="adj" fmla="val 238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B0D85-4E27-41E5-91C5-AFAE9A83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43100"/>
            <a:ext cx="5257800" cy="3343275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BFFFC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1a86e949744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2019300"/>
            <a:ext cx="5105400" cy="3190875"/>
          </a:xfrm>
          <a:prstGeom xmlns:a="http://schemas.openxmlformats.org/drawingml/2006/main" prst="roundRect">
            <a:avLst>
              <a:gd name="adj" fmla="val 238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90453-F00B-411C-A50A-463FD65D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76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BFFFC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D0882-205F-4795-8F14-A2D2D20B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721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rPr>
              <a:t>游客提交  →  后台确认  →  备货预约  →  到店核销  →  状态沉淀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2AA72-F58E-4612-B00D-5DC5ABA4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5F7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F7D7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640983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2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C894E6-D8E3-4431-B0A7-17BDBA15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89C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9C3F"/>
                </a:solidFill>
                <a:latin typeface="Microsoft YaHei"/>
                <a:ea typeface="Microsoft YaHei"/>
                <a:cs typeface="Microsoft YaHei"/>
              </a:rPr>
              <a:t>服务运营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DAF62-A4DE-492C-AE1B-63DB5DED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BFF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BFFFC"/>
                </a:solidFill>
                <a:latin typeface="Microsoft YaHei"/>
                <a:ea typeface="Microsoft YaHei"/>
                <a:cs typeface="Microsoft YaHei"/>
              </a:rPr>
              <a:t>直播、反馈和日志把日常运维串起来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EA5F3-73FA-4964-981C-FC06687B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CDE0DA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350" b="0">
                <a:solidFill>
                  <a:srgbClr val="CDE0DA"/>
                </a:solidFill>
                <a:latin typeface="Microsoft YaHei Light"/>
                <a:ea typeface="Microsoft YaHei Light"/>
                <a:cs typeface="Microsoft YaHei Light"/>
              </a:rPr>
              <a:t>摄像头状态、游客反馈和管理员操作记录，都能回到后台追踪。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4C09B-B362-4CB8-9BCC-C8FE9CCA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3581400" cy="2295525"/>
          </a:xfrm>
          <a:prstGeom xmlns:a="http://schemas.openxmlformats.org/drawingml/2006/main" prst="roundRect">
            <a:avLst>
              <a:gd name="adj" fmla="val 4979"/>
            </a:avLst>
          </a:prstGeom>
          <a:solidFill xmlns:a="http://schemas.openxmlformats.org/drawingml/2006/main">
            <a:srgbClr val="08201E"/>
          </a:solidFill>
          <a:ln xmlns:a="http://schemas.openxmlformats.org/drawingml/2006/main" w="9525">
            <a:solidFill>
              <a:srgbClr val="08201E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321eede2448f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000250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0050C-7A8E-487B-9466-D017E0CC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24050"/>
            <a:ext cx="3581400" cy="2295525"/>
          </a:xfrm>
          <a:prstGeom xmlns:a="http://schemas.openxmlformats.org/drawingml/2006/main" prst="roundRect">
            <a:avLst>
              <a:gd name="adj" fmla="val 4979"/>
            </a:avLst>
          </a:prstGeom>
          <a:solidFill xmlns:a="http://schemas.openxmlformats.org/drawingml/2006/main">
            <a:srgbClr val="08201E"/>
          </a:solidFill>
          <a:ln xmlns:a="http://schemas.openxmlformats.org/drawingml/2006/main" w="9525">
            <a:solidFill>
              <a:srgbClr val="08201E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96ac2059643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0" y="2000250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E776D-9DA8-4CD3-BB03-F63917FB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24050"/>
            <a:ext cx="3581400" cy="2295525"/>
          </a:xfrm>
          <a:prstGeom xmlns:a="http://schemas.openxmlformats.org/drawingml/2006/main" prst="roundRect">
            <a:avLst>
              <a:gd name="adj" fmla="val 4979"/>
            </a:avLst>
          </a:prstGeom>
          <a:solidFill xmlns:a="http://schemas.openxmlformats.org/drawingml/2006/main">
            <a:srgbClr val="08201E"/>
          </a:solidFill>
          <a:ln xmlns:a="http://schemas.openxmlformats.org/drawingml/2006/main" w="9525">
            <a:solidFill>
              <a:srgbClr val="08201E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df9aeb1004a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2000250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05A09-282E-43E1-BE38-9DC4180F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76750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3F3A"/>
          </a:solidFill>
          <a:ln xmlns:a="http://schemas.openxmlformats.org/drawingml/2006/main" w="9525">
            <a:solidFill>
              <a:srgbClr val="315F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C8496-27AB-4F15-9AD8-0880FA57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72000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BFF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BFFFC"/>
                </a:solidFill>
                <a:latin typeface="Microsoft YaHei"/>
                <a:ea typeface="Microsoft YaHei"/>
                <a:cs typeface="Microsoft YaHei"/>
              </a:rPr>
              <a:t>直播设备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F6379A-F251-44B0-B59E-B37AE264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76750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3F3A"/>
          </a:solidFill>
          <a:ln xmlns:a="http://schemas.openxmlformats.org/drawingml/2006/main" w="9525">
            <a:solidFill>
              <a:srgbClr val="315F5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DBAE5-B9A3-4536-916E-B2E84ADD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572000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BFF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BFFFC"/>
                </a:solidFill>
                <a:latin typeface="Microsoft YaHei"/>
                <a:ea typeface="Microsoft YaHei"/>
                <a:cs typeface="Microsoft YaHei"/>
              </a:rPr>
              <a:t>用户反馈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9CB24-15EB-4974-843D-CBEF695F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76750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3F3A"/>
          </a:solidFill>
          <a:ln xmlns:a="http://schemas.openxmlformats.org/drawingml/2006/main" w="9525">
            <a:solidFill>
              <a:srgbClr val="315F5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3CF196-F686-4996-A9BE-60CBE773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572000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BFF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BFFFC"/>
                </a:solidFill>
                <a:latin typeface="Microsoft YaHei"/>
                <a:ea typeface="Microsoft YaHei"/>
                <a:cs typeface="Microsoft YaHei"/>
              </a:rPr>
              <a:t>操作日志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88BE2-F288-4229-9118-5D8E0F36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91249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53E3A"/>
          </a:solidFill>
          <a:ln xmlns:a="http://schemas.openxmlformats.org/drawingml/2006/main" w="9525">
            <a:solidFill>
              <a:srgbClr val="315F5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FAD1E2-6013-4C93-8D8B-B2CB65D7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054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FBFF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BFFFC"/>
                </a:solidFill>
                <a:latin typeface="Microsoft YaHei"/>
                <a:ea typeface="Microsoft YaHei"/>
                <a:cs typeface="Microsoft YaHei"/>
              </a:rPr>
              <a:t>内容发布之后，后台继续负责设备、问题和操作留痕。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376FBA-F684-4925-9E04-75CCC354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CDE0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DE0D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723714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F15BFF-8636-4C52-965E-B8A7C6DA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rPr>
              <a:t>系统配置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9AA43-5165-4D7A-B131-09976BB9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7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D3A"/>
                </a:solidFill>
                <a:latin typeface="Microsoft YaHei"/>
                <a:ea typeface="Microsoft YaHei"/>
                <a:cs typeface="Microsoft YaHei"/>
              </a:rPr>
              <a:t>第三方凭证和上线状态需要有地方可查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B674B-ABE3-41A3-AB87-5155067F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F7D78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350" b="0">
                <a:solidFill>
                  <a:srgbClr val="5F7D78"/>
                </a:solidFill>
                <a:latin typeface="Microsoft YaHei Light"/>
                <a:ea typeface="Microsoft YaHei Light"/>
                <a:cs typeface="Microsoft YaHei Light"/>
              </a:rPr>
              <a:t>微信、支付、地图、直播、云存储和智能模型统一放在系统设置中管理。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63CC9-3A6F-47BA-B901-3289C164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7010400" cy="4438650"/>
          </a:xfrm>
          <a:prstGeom xmlns:a="http://schemas.openxmlformats.org/drawingml/2006/main" prst="roundRect">
            <a:avLst>
              <a:gd name="adj" fmla="val 2575"/>
            </a:avLst>
          </a:prstGeom>
          <a:solidFill xmlns:a="http://schemas.openxmlformats.org/drawingml/2006/main">
            <a:srgbClr val="FBFFFC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9f9808c3345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00250"/>
            <a:ext cx="6858000" cy="4286250"/>
          </a:xfrm>
          <a:prstGeom xmlns:a="http://schemas.openxmlformats.org/drawingml/2006/main" prst="roundRect">
            <a:avLst>
              <a:gd name="adj" fmla="val 177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1D300-D110-41E5-B6F6-61B2A6AE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71700"/>
            <a:ext cx="2724150" cy="31432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BFFFC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80B1A-E004-47F9-8293-483B0688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14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3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D3A"/>
                </a:solidFill>
                <a:latin typeface="Microsoft YaHei"/>
                <a:ea typeface="Microsoft YaHei"/>
                <a:cs typeface="Microsoft YaHei"/>
              </a:rPr>
              <a:t>适合汇报时说明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DF275-EC8C-4395-8C32-13DC2E6E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8610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BFFFC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7D01C-5B9E-465B-82FC-50B8C185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8135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rPr>
              <a:t>配置可见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7FE9A-B3BF-4686-B759-F18C2926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0045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BFFFC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53550-B10D-4404-97CF-B058781F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957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rPr>
              <a:t>状态可查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6CD9A2-9BC7-4BE4-BEE5-8C14B195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1480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BFFFC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252D1C-4DCD-4B1E-B867-BB34B6FA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1005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rPr>
              <a:t>凭证待接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DBD26F-D4ED-4B1C-9C69-07C512ED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2915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BFFFC"/>
          </a:solidFill>
          <a:ln xmlns:a="http://schemas.openxmlformats.org/drawingml/2006/main" w="9525">
            <a:solidFill>
              <a:srgbClr val="D7E7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C8774A-56D8-4373-9652-B1901937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244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6B67"/>
                </a:solidFill>
                <a:latin typeface="Microsoft YaHei"/>
                <a:ea typeface="Microsoft YaHei"/>
                <a:cs typeface="Microsoft YaHei"/>
              </a:rPr>
              <a:t>后续可扩展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076715-314B-4A68-A049-9991A981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340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C3F"/>
          </a:solidFill>
          <a:ln xmlns:a="http://schemas.openxmlformats.org/drawingml/2006/main" w="0">
            <a:solidFill>
              <a:srgbClr val="C89C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53490D-8E39-4E06-BA93-2016EBE2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6007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F7D78"/>
                </a:solidFill>
                <a:latin typeface="Microsoft YaHei Light"/>
                <a:ea typeface="Microsoft YaHei Light"/>
                <a:cs typeface="Microsoft YaHei Light"/>
              </a:defRPr>
            </a:pPr>
            <a:r>
              <a:rPr sz="1350" b="0">
                <a:solidFill>
                  <a:srgbClr val="5F7D78"/>
                </a:solidFill>
                <a:latin typeface="Microsoft YaHei Light"/>
                <a:ea typeface="Microsoft YaHei Light"/>
                <a:cs typeface="Microsoft YaHei Light"/>
              </a:rPr>
              <a:t>最终上线仍取决于正式域名、备案和第三方账号。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2E9A0D-83A2-435E-88B7-652CE58E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5F7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F7D7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555066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2026-08-02T16:44:13.6040000Z</dcterms:created>
  <dcterms:modified xsi:type="dcterms:W3CDTF">2026-08-02T16:44:13.6040000Z</dcterms:modified>
</coreProperties>
</file>