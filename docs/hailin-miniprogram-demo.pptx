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b77c7b29fe64396" /><Relationship Type="http://schemas.openxmlformats.org/officeDocument/2006/relationships/extended-properties" Target="/docProps/app.xml" Id="Rd1e94f71d6e44165" /><Relationship Type="http://schemas.openxmlformats.org/officeDocument/2006/relationships/officeDocument" Target="/ppt/presentation.xml" Id="Rdd80f4d06b12491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1c11ed5f6e24609"/>
  </p:sldMasterIdLst>
  <p:notesMasterIdLst>
    <p:notesMasterId xmlns:r="http://schemas.openxmlformats.org/officeDocument/2006/relationships" r:id="Rdbe5cfc523b944d9"/>
  </p:notesMasterIdLst>
  <p:sldIdLst>
    <p:sldId xmlns:r="http://schemas.openxmlformats.org/officeDocument/2006/relationships" id="256" r:id="Rfbe72aba19454b1c"/>
    <p:sldId xmlns:r="http://schemas.openxmlformats.org/officeDocument/2006/relationships" id="257" r:id="R77f8d0227b684510"/>
    <p:sldId xmlns:r="http://schemas.openxmlformats.org/officeDocument/2006/relationships" id="258" r:id="Rf3d62852837d4465"/>
    <p:sldId xmlns:r="http://schemas.openxmlformats.org/officeDocument/2006/relationships" id="259" r:id="R23815ca9f83d4b58"/>
    <p:sldId xmlns:r="http://schemas.openxmlformats.org/officeDocument/2006/relationships" id="260" r:id="R0bad3f080a1845fc"/>
    <p:sldId xmlns:r="http://schemas.openxmlformats.org/officeDocument/2006/relationships" id="261" r:id="R8e6b41f632234bf4"/>
    <p:sldId xmlns:r="http://schemas.openxmlformats.org/officeDocument/2006/relationships" id="262" r:id="Rc70492867b454a53"/>
    <p:sldId xmlns:r="http://schemas.openxmlformats.org/officeDocument/2006/relationships" id="263" r:id="R5e5ea5174410448b"/>
    <p:sldId xmlns:r="http://schemas.openxmlformats.org/officeDocument/2006/relationships" id="264" r:id="R6b2ac203bde3429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830ecde03bc433b" /><Relationship Type="http://schemas.openxmlformats.org/officeDocument/2006/relationships/slideMaster" Target="/ppt/slideMasters/slideMaster1.xml" Id="Re1c11ed5f6e24609" /><Relationship Type="http://schemas.openxmlformats.org/officeDocument/2006/relationships/notesMaster" Target="/ppt/notesMasters/notesMaster1.xml" Id="Rdbe5cfc523b944d9" /><Relationship Type="http://schemas.openxmlformats.org/officeDocument/2006/relationships/presProps" Target="/ppt/presProps.xml" Id="Rf26f71231e204040" /><Relationship Type="http://schemas.openxmlformats.org/officeDocument/2006/relationships/tableStyles" Target="/ppt/tableStyles.xml" Id="R194803ae04124df2" /><Relationship Type="http://schemas.openxmlformats.org/officeDocument/2006/relationships/slide" Target="/ppt/slides/slide1.xml" Id="Rfbe72aba19454b1c" /><Relationship Type="http://schemas.openxmlformats.org/officeDocument/2006/relationships/slide" Target="/ppt/slides/slide2.xml" Id="R77f8d0227b684510" /><Relationship Type="http://schemas.openxmlformats.org/officeDocument/2006/relationships/slide" Target="/ppt/slides/slide3.xml" Id="Rf3d62852837d4465" /><Relationship Type="http://schemas.openxmlformats.org/officeDocument/2006/relationships/slide" Target="/ppt/slides/slide4.xml" Id="R23815ca9f83d4b58" /><Relationship Type="http://schemas.openxmlformats.org/officeDocument/2006/relationships/slide" Target="/ppt/slides/slide5.xml" Id="R0bad3f080a1845fc" /><Relationship Type="http://schemas.openxmlformats.org/officeDocument/2006/relationships/slide" Target="/ppt/slides/slide6.xml" Id="R8e6b41f632234bf4" /><Relationship Type="http://schemas.openxmlformats.org/officeDocument/2006/relationships/slide" Target="/ppt/slides/slide7.xml" Id="Rc70492867b454a53" /><Relationship Type="http://schemas.openxmlformats.org/officeDocument/2006/relationships/slide" Target="/ppt/slides/slide8.xml" Id="R5e5ea5174410448b" /><Relationship Type="http://schemas.openxmlformats.org/officeDocument/2006/relationships/slide" Target="/ppt/slides/slide9.xml" Id="R6b2ac203bde3429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a78d58d34e04c5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209de4174904f2d" /><Relationship Type="http://schemas.openxmlformats.org/officeDocument/2006/relationships/notesMaster" Target="/ppt/notesMasters/notesMaster1.xml" Id="Re4433312af1e4ff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08d2506e56142e4" /><Relationship Type="http://schemas.openxmlformats.org/officeDocument/2006/relationships/notesMaster" Target="/ppt/notesMasters/notesMaster1.xml" Id="R7ffb650f484f484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33f50e8bc934d5c" /><Relationship Type="http://schemas.openxmlformats.org/officeDocument/2006/relationships/notesMaster" Target="/ppt/notesMasters/notesMaster1.xml" Id="R441a192e9e6c483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aa0e44da2984669" /><Relationship Type="http://schemas.openxmlformats.org/officeDocument/2006/relationships/notesMaster" Target="/ppt/notesMasters/notesMaster1.xml" Id="Reb69a303a06c44d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bc16c70221845cf" /><Relationship Type="http://schemas.openxmlformats.org/officeDocument/2006/relationships/notesMaster" Target="/ppt/notesMasters/notesMaster1.xml" Id="Rc10d2aa4f6b743f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9a4aa81cd55493d" /><Relationship Type="http://schemas.openxmlformats.org/officeDocument/2006/relationships/notesMaster" Target="/ppt/notesMasters/notesMaster1.xml" Id="Rd632bdfa5f034d0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07a9aad62f24cf4" /><Relationship Type="http://schemas.openxmlformats.org/officeDocument/2006/relationships/notesMaster" Target="/ppt/notesMasters/notesMaster1.xml" Id="R9ea19c891e3a4b2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92beb7bc49a4c3a" /><Relationship Type="http://schemas.openxmlformats.org/officeDocument/2006/relationships/notesMaster" Target="/ppt/notesMasters/notesMaster1.xml" Id="R317e8a990eaf4b7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533ca4caad946cd" /><Relationship Type="http://schemas.openxmlformats.org/officeDocument/2006/relationships/notesMaster" Target="/ppt/notesMasters/notesMaster1.xml" Id="R97d3dcd3985148a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project asset: miniprogram/assets/launch/launch-bg.jpg</a:t>
            </a:r>
          </a:p>
          <a:p xmlns:a="http://schemas.openxmlformats.org/drawingml/2006/main">
            <a:r>
              <a:t>Local project asset: backend/admin-src/src/assets/hailin-logo.png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Computer Use screenshot crop: docs/wechat-devtools-home-phone.png</a:t>
            </a:r>
          </a:p>
          <a:p xmlns:a="http://schemas.openxmlformats.org/drawingml/2006/main">
            <a:r>
              <a:t>Package size from local test output in this workspace.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User-provided screenshot: codex-clipboard-9b4df986-c0e9-472d-86b6-b25ddba934e6.png</a:t>
            </a:r>
          </a:p>
          <a:p xmlns:a="http://schemas.openxmlformats.org/drawingml/2006/main">
            <a:r>
              <a:t>Local project assets: ai-chenrongkao-tree.jpg, ai-map-tianpu-station.jpg, ai-map-hailin-creek.jpg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User-provided screenshot: codex-clipboard-836ef357-d33c-4cd6-b3e0-34a7590ae90e.jpg</a:t>
            </a:r>
          </a:p>
          <a:p xmlns:a="http://schemas.openxmlformats.org/drawingml/2006/main">
            <a:r>
              <a:t>Local project assets: ai-product-native-chicken.jpg, ai-product-honey.jpg, ai-xunye-cafe.jpg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User-provided screenshot: codex-clipboard-662ef7ee-c6b6-4645-a060-1dc9a337deec.png</a:t>
            </a:r>
          </a:p>
          <a:p xmlns:a="http://schemas.openxmlformats.org/drawingml/2006/main">
            <a:r>
              <a:t>Local code behavior: miniprogram/services/ai.js beta fallback.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test output: miniprogram upload source size ok around 630KB.</a:t>
            </a:r>
          </a:p>
          <a:p xmlns:a="http://schemas.openxmlformats.org/drawingml/2006/main">
            <a:r>
              <a:t>Deployment blocker based on current project notes: api.hailin.store ICP/domain readiness.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project implementation notes from docs/backend-integration.md and docs/production-runbook.md.</a:t>
            </a:r>
          </a:p>
          <a:p xmlns:a="http://schemas.openxmlformats.org/drawingml/2006/main">
            <a:r>
              <a:t>Current domain strategy discussed in this workspace: temporary www fallback, final api subdomain after ICP readiness.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implementation scope reflected by backend/admin and miniprogram API adapters.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User-provided screenshot: codex-clipboard-73f5623a-36e4-464b-8dfc-15ebe41caa29.png</a:t>
            </a:r>
          </a:p>
          <a:p xmlns:a="http://schemas.openxmlformats.org/drawingml/2006/main">
            <a:r>
              <a:t>User-provided screenshot: codex-clipboard-e909a554-be82-4077-a8b2-31df7106be10.png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72316579084b7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c30b3a2426a487f" /><Relationship Type="http://schemas.openxmlformats.org/officeDocument/2006/relationships/slideLayout" Target="/ppt/slideLayouts/slideLayout1.xml" Id="Rbe29d09ad2944a6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e29d09ad2944a6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a5d4fff0504875" /><Relationship Type="http://schemas.openxmlformats.org/officeDocument/2006/relationships/image" Target="/ppt/media/image.jpeg" Id="R015285e099924789" /><Relationship Type="http://schemas.openxmlformats.org/officeDocument/2006/relationships/image" Target="/ppt/media/image.png" Id="R7fa7137fd4b1489e" /><Relationship Type="http://schemas.openxmlformats.org/officeDocument/2006/relationships/notesSlide" Target="/ppt/notesSlides/notesSlide1.xml" Id="R0aa6fae3cb4b40f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2e95345b41494b" /><Relationship Type="http://schemas.openxmlformats.org/officeDocument/2006/relationships/image" Target="/ppt/media/image2.png" Id="R039df60800fb440a" /><Relationship Type="http://schemas.openxmlformats.org/officeDocument/2006/relationships/notesSlide" Target="/ppt/notesSlides/notesSlide2.xml" Id="Ra1f3d77d32d2423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b7821f25854a2c" /><Relationship Type="http://schemas.openxmlformats.org/officeDocument/2006/relationships/image" Target="/ppt/media/image3.png" Id="Rb0a6436fc8bc48a3" /><Relationship Type="http://schemas.openxmlformats.org/officeDocument/2006/relationships/image" Target="/ppt/media/image2.jpeg" Id="R6baf846d6ea146fe" /><Relationship Type="http://schemas.openxmlformats.org/officeDocument/2006/relationships/image" Target="/ppt/media/image3.jpeg" Id="R5ce907fb7c7145e5" /><Relationship Type="http://schemas.openxmlformats.org/officeDocument/2006/relationships/image" Target="/ppt/media/image4.jpeg" Id="R65e11b71df854f27" /><Relationship Type="http://schemas.openxmlformats.org/officeDocument/2006/relationships/notesSlide" Target="/ppt/notesSlides/notesSlide3.xml" Id="Re1c8b803a6b54da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17bb871b41448e" /><Relationship Type="http://schemas.openxmlformats.org/officeDocument/2006/relationships/image" Target="/ppt/media/image5.jpeg" Id="R2d30341e25624865" /><Relationship Type="http://schemas.openxmlformats.org/officeDocument/2006/relationships/image" Target="/ppt/media/image6.jpeg" Id="Ree37f73702b84ddc" /><Relationship Type="http://schemas.openxmlformats.org/officeDocument/2006/relationships/image" Target="/ppt/media/image7.jpeg" Id="R8afb8a82a32d4b16" /><Relationship Type="http://schemas.openxmlformats.org/officeDocument/2006/relationships/image" Target="/ppt/media/image8.jpeg" Id="R4c5d371c9f194449" /><Relationship Type="http://schemas.openxmlformats.org/officeDocument/2006/relationships/notesSlide" Target="/ppt/notesSlides/notesSlide4.xml" Id="R77a12844875642b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b7ca7559a646b9" /><Relationship Type="http://schemas.openxmlformats.org/officeDocument/2006/relationships/image" Target="/ppt/media/image4.png" Id="Rb7bf8422912d46c9" /><Relationship Type="http://schemas.openxmlformats.org/officeDocument/2006/relationships/notesSlide" Target="/ppt/notesSlides/notesSlide5.xml" Id="Rd6225f293853447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18cdd0dfbd44f5" /><Relationship Type="http://schemas.openxmlformats.org/officeDocument/2006/relationships/notesSlide" Target="/ppt/notesSlides/notesSlide6.xml" Id="R909ff91e96f14d1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c9a8b3a3fe476b" /><Relationship Type="http://schemas.openxmlformats.org/officeDocument/2006/relationships/notesSlide" Target="/ppt/notesSlides/notesSlide7.xml" Id="Ra1aaf53f994d4ec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8f5e9682354655" /><Relationship Type="http://schemas.openxmlformats.org/officeDocument/2006/relationships/notesSlide" Target="/ppt/notesSlides/notesSlide8.xml" Id="Rd7054016ac3a46e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4dea59a0614f4f" /><Relationship Type="http://schemas.openxmlformats.org/officeDocument/2006/relationships/image" Target="/ppt/media/image5.png" Id="Re29bf641d77849d9" /><Relationship Type="http://schemas.openxmlformats.org/officeDocument/2006/relationships/image" Target="/ppt/media/image6.png" Id="R680b723b78254f38" /><Relationship Type="http://schemas.openxmlformats.org/officeDocument/2006/relationships/notesSlide" Target="/ppt/notesSlides/notesSlide9.xml" Id="R20831dec0fd540b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5285e099924789"/>
          <a:srcRect xmlns:a="http://schemas.openxmlformats.org/drawingml/2006/main" l="33025" t="0" r="330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0" y="0"/>
            <a:ext cx="5715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BB613B-A368-4094-A25F-EE8E840C0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6096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BF7EF"/>
              </a:gs>
              <a:gs pos="60000">
                <a:srgbClr val="FBF7EF">
                  <a:alpha val="53333"/>
                </a:srgbClr>
              </a:gs>
              <a:gs pos="100000">
                <a:srgbClr val="FBF7EF">
                  <a:alpha val="0"/>
                </a:srgbClr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a7137fd4b1489e"/>
          <a:stretch xmlns:a="http://schemas.openxmlformats.org/drawingml/2006/main"/>
        </p:blipFill>
        <p:spPr>
          <a:xfrm xmlns:a="http://schemas.openxmlformats.org/drawingml/2006/main">
            <a:off x="685800" y="628650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E81E96-94C0-4510-842A-7C2648A4B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581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750" b="1">
                <a:solidFill>
                  <a:srgbClr val="123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23C39"/>
                </a:solidFill>
                <a:latin typeface="Microsoft YaHei"/>
                <a:ea typeface="Microsoft YaHei"/>
                <a:cs typeface="Microsoft YaHei"/>
              </a:rPr>
              <a:t>一部手机游海林村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E343BE-C752-4B64-AE5E-FB751240F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0F6B67"/>
                </a:solidFill>
                <a:latin typeface="Microsoft YaHei Light"/>
                <a:ea typeface="Microsoft YaHei Light"/>
                <a:cs typeface="Microsoft YaHei Light"/>
              </a:defRPr>
            </a:pPr>
            <a:r>
              <a:rPr sz="1650" b="0">
                <a:solidFill>
                  <a:srgbClr val="0F6B67"/>
                </a:solidFill>
                <a:latin typeface="Microsoft YaHei Light"/>
                <a:ea typeface="Microsoft YaHei Light"/>
                <a:cs typeface="Microsoft YaHei Light"/>
              </a:rPr>
              <a:t>微信小程序产品演示稿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F66CA5-3EFF-4744-9C54-3DA49FAB7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53340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123C39"/>
                </a:solidFill>
                <a:latin typeface="Microsoft YaHei Light"/>
                <a:ea typeface="Microsoft YaHei Light"/>
                <a:cs typeface="Microsoft YaHei Light"/>
              </a:defRPr>
            </a:pPr>
            <a:r>
              <a:rPr sz="1500" b="0">
                <a:solidFill>
                  <a:srgbClr val="123C39"/>
                </a:solidFill>
                <a:latin typeface="Microsoft YaHei Light"/>
                <a:ea typeface="Microsoft YaHei Light"/>
                <a:cs typeface="Microsoft YaHei Light"/>
              </a:rPr>
              <a:t>• 围绕村庄导览、地图、农品预购、民宿场地和 AI 助手组织体验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123C39"/>
                </a:solidFill>
                <a:latin typeface="Microsoft YaHei Light"/>
                <a:ea typeface="Microsoft YaHei Light"/>
                <a:cs typeface="Microsoft YaHei Light"/>
              </a:defRPr>
            </a:pPr>
            <a:r>
              <a:rPr sz="1500" b="0">
                <a:solidFill>
                  <a:srgbClr val="123C39"/>
                </a:solidFill>
                <a:latin typeface="Microsoft YaHei Light"/>
                <a:ea typeface="Microsoft YaHei Light"/>
                <a:cs typeface="Microsoft YaHei Light"/>
              </a:rPr>
              <a:t>• 面向演示和审核，先保证功能边界清晰、页面稳定、包体可控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123C39"/>
                </a:solidFill>
                <a:latin typeface="Microsoft YaHei Light"/>
                <a:ea typeface="Microsoft YaHei Light"/>
                <a:cs typeface="Microsoft YaHei Light"/>
              </a:defRPr>
            </a:pPr>
            <a:r>
              <a:rPr sz="1500" b="0">
                <a:solidFill>
                  <a:srgbClr val="123C39"/>
                </a:solidFill>
                <a:latin typeface="Microsoft YaHei Light"/>
                <a:ea typeface="Microsoft YaHei Light"/>
                <a:cs typeface="Microsoft YaHei Light"/>
              </a:rPr>
              <a:t>• 后台与小程序内容逐步打通，后续正式凭证接入后可进入上线闭环</a:t>
            </a:r>
          </a:p>
        </p:txBody>
      </p:sp>
    </p:spTree>
    <p:extLst>
      <p:ext uri="{BB962C8B-B14F-4D97-AF65-F5344CB8AC3E}">
        <p14:creationId xmlns:p14="http://schemas.microsoft.com/office/powerpoint/2010/main" val="12487047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FAAAC5-09C0-436D-8DDF-D73F25AD0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625" b="1">
                <a:solidFill>
                  <a:srgbClr val="123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23C39"/>
                </a:solidFill>
                <a:latin typeface="Microsoft YaHei"/>
                <a:ea typeface="Microsoft YaHei"/>
                <a:cs typeface="Microsoft YaHei"/>
              </a:rPr>
              <a:t>核心入口已经围绕到村服务重排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ECAAB6-2C11-4FD4-9334-E2C20FDDF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607F7A"/>
                </a:solidFill>
                <a:latin typeface="Microsoft YaHei Light"/>
                <a:ea typeface="Microsoft YaHei Light"/>
                <a:cs typeface="Microsoft YaHei Light"/>
              </a:defRPr>
            </a:pPr>
            <a:r>
              <a:rPr sz="1275" b="0">
                <a:solidFill>
                  <a:srgbClr val="607F7A"/>
                </a:solidFill>
                <a:latin typeface="Microsoft YaHei Light"/>
                <a:ea typeface="Microsoft YaHei Light"/>
                <a:cs typeface="Microsoft YaHei Light"/>
              </a:rPr>
              <a:t>首页把游客最常用的入口前置，减少演示时的解释成本。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0ECE19-9975-4799-8BB6-1E12324C6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647700"/>
            <a:ext cx="2571750" cy="5810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02724"/>
          </a:solidFill>
          <a:ln xmlns:a="http://schemas.openxmlformats.org/drawingml/2006/main" w="0">
            <a:solidFill>
              <a:srgbClr val="10272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9df60800fb440a"/>
          <a:srcRect xmlns:a="http://schemas.openxmlformats.org/drawingml/2006/main" l="3509" t="0" r="350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0500" y="742950"/>
            <a:ext cx="2381250" cy="5619750"/>
          </a:xfrm>
          <a:prstGeom xmlns:a="http://schemas.openxmlformats.org/drawingml/2006/main" prst="roundRect">
            <a:avLst>
              <a:gd name="adj" fmla="val 6400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CB7F19-BA2A-4932-84AA-15C867AA3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943600"/>
            <a:ext cx="12192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EF6F4"/>
          </a:solidFill>
          <a:ln xmlns:a="http://schemas.openxmlformats.org/drawingml/2006/main" w="9525">
            <a:solidFill>
              <a:srgbClr val="D7E7E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F6B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F6B67"/>
                </a:solidFill>
                <a:latin typeface="Microsoft YaHei"/>
                <a:ea typeface="Microsoft YaHei"/>
                <a:cs typeface="Microsoft YaHei"/>
              </a:rPr>
              <a:t>开发者工具实截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C43D99-8991-46A5-954A-95DB6B57A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123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3C39"/>
                </a:solidFill>
                <a:latin typeface="Microsoft YaHei"/>
                <a:ea typeface="Microsoft YaHei"/>
                <a:cs typeface="Microsoft YaHei"/>
              </a:rPr>
              <a:t>首页承担三件事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B45A91-84A1-4A90-B379-F42A49986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59055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650" b="0">
                <a:solidFill>
                  <a:srgbClr val="123C39"/>
                </a:solidFill>
                <a:latin typeface="Microsoft YaHei Light"/>
                <a:ea typeface="Microsoft YaHei Light"/>
                <a:cs typeface="Microsoft YaHei Light"/>
              </a:defRPr>
            </a:pPr>
            <a:r>
              <a:rPr sz="1650" b="0">
                <a:solidFill>
                  <a:srgbClr val="123C39"/>
                </a:solidFill>
                <a:latin typeface="Microsoft YaHei Light"/>
                <a:ea typeface="Microsoft YaHei Light"/>
                <a:cs typeface="Microsoft YaHei Light"/>
              </a:rPr>
              <a:t>• 第一屏展示村庄定位和主要活动，让游客知道“先看什么”。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650" b="0">
                <a:solidFill>
                  <a:srgbClr val="123C39"/>
                </a:solidFill>
                <a:latin typeface="Microsoft YaHei Light"/>
                <a:ea typeface="Microsoft YaHei Light"/>
                <a:cs typeface="Microsoft YaHei Light"/>
              </a:defRPr>
            </a:pPr>
            <a:r>
              <a:rPr sz="1650" b="0">
                <a:solidFill>
                  <a:srgbClr val="123C39"/>
                </a:solidFill>
                <a:latin typeface="Microsoft YaHei Light"/>
                <a:ea typeface="Microsoft YaHei Light"/>
                <a:cs typeface="Microsoft YaHei Light"/>
              </a:rPr>
              <a:t>• 功能栏聚合农品、直播、村咖、民宿、场地、地图和 AI 助手。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650" b="0">
                <a:solidFill>
                  <a:srgbClr val="123C39"/>
                </a:solidFill>
                <a:latin typeface="Microsoft YaHei Light"/>
                <a:ea typeface="Microsoft YaHei Light"/>
                <a:cs typeface="Microsoft YaHei Light"/>
              </a:defRPr>
            </a:pPr>
            <a:r>
              <a:rPr sz="1650" b="0">
                <a:solidFill>
                  <a:srgbClr val="123C39"/>
                </a:solidFill>
                <a:latin typeface="Microsoft YaHei Light"/>
                <a:ea typeface="Microsoft YaHei Light"/>
                <a:cs typeface="Microsoft YaHei Light"/>
              </a:rPr>
              <a:t>• 推荐区承接路线、服务、热门点位，适合做现场演示动线。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A516C4-3E8B-4C25-9194-C2812529F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81550"/>
            <a:ext cx="123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0F6B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F6B67"/>
                </a:solidFill>
                <a:latin typeface="Microsoft YaHei"/>
                <a:ea typeface="Microsoft YaHei"/>
                <a:cs typeface="Microsoft YaHei"/>
              </a:rPr>
              <a:t>15+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AB719F-CD2D-4D92-B769-7D740669D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1970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607F7A"/>
                </a:solidFill>
                <a:latin typeface="Microsoft YaHei Light"/>
                <a:ea typeface="Microsoft YaHei Light"/>
                <a:cs typeface="Microsoft YaHei Light"/>
              </a:defRPr>
            </a:pPr>
            <a:r>
              <a:rPr sz="1125" b="0">
                <a:solidFill>
                  <a:srgbClr val="607F7A"/>
                </a:solidFill>
                <a:latin typeface="Microsoft YaHei Light"/>
                <a:ea typeface="Microsoft YaHei Light"/>
                <a:cs typeface="Microsoft YaHei Light"/>
              </a:rPr>
              <a:t>前台功能入口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62F871-3D6F-4FBA-ADE5-5BC3F0E5F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781550"/>
            <a:ext cx="123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0F6B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F6B67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C4B04D-A4FA-493D-9FC1-9ACE27192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21970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607F7A"/>
                </a:solidFill>
                <a:latin typeface="Microsoft YaHei Light"/>
                <a:ea typeface="Microsoft YaHei Light"/>
                <a:cs typeface="Microsoft YaHei Light"/>
              </a:defRPr>
            </a:pPr>
            <a:r>
              <a:rPr sz="1125" b="0">
                <a:solidFill>
                  <a:srgbClr val="607F7A"/>
                </a:solidFill>
                <a:latin typeface="Microsoft YaHei Light"/>
                <a:ea typeface="Microsoft YaHei Light"/>
                <a:cs typeface="Microsoft YaHei Light"/>
              </a:rPr>
              <a:t>底部核心导航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559867-8C59-4DEB-B421-DF4CFDE75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781550"/>
            <a:ext cx="123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0F6B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F6B67"/>
                </a:solidFill>
                <a:latin typeface="Microsoft YaHei"/>
                <a:ea typeface="Microsoft YaHei"/>
                <a:cs typeface="Microsoft YaHei"/>
              </a:rPr>
              <a:t>630KB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128F53-C1D8-405D-B70D-6B890620E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21970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607F7A"/>
                </a:solidFill>
                <a:latin typeface="Microsoft YaHei Light"/>
                <a:ea typeface="Microsoft YaHei Light"/>
                <a:cs typeface="Microsoft YaHei Light"/>
              </a:defRPr>
            </a:pPr>
            <a:r>
              <a:rPr sz="1125" b="0">
                <a:solidFill>
                  <a:srgbClr val="607F7A"/>
                </a:solidFill>
                <a:latin typeface="Microsoft YaHei Light"/>
                <a:ea typeface="Microsoft YaHei Light"/>
                <a:cs typeface="Microsoft YaHei Light"/>
              </a:rPr>
              <a:t>当前小程序包体</a:t>
            </a:r>
          </a:p>
        </p:txBody>
      </p:sp>
    </p:spTree>
    <p:extLst>
      <p:ext uri="{BB962C8B-B14F-4D97-AF65-F5344CB8AC3E}">
        <p14:creationId xmlns:p14="http://schemas.microsoft.com/office/powerpoint/2010/main" val="17529196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EF6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DDE1AB-DD87-460F-8BE8-D4446C3CD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625" b="1">
                <a:solidFill>
                  <a:srgbClr val="123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23C39"/>
                </a:solidFill>
                <a:latin typeface="Microsoft YaHei"/>
                <a:ea typeface="Microsoft YaHei"/>
                <a:cs typeface="Microsoft YaHei"/>
              </a:rPr>
              <a:t>地图页把“可找、可点、可导航”放到同一屏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DC87CA-BCBB-46CF-8636-34AEF624E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607F7A"/>
                </a:solidFill>
                <a:latin typeface="Microsoft YaHei Light"/>
                <a:ea typeface="Microsoft YaHei Light"/>
                <a:cs typeface="Microsoft YaHei Light"/>
              </a:defRPr>
            </a:pPr>
            <a:r>
              <a:rPr sz="1275" b="0">
                <a:solidFill>
                  <a:srgbClr val="607F7A"/>
                </a:solidFill>
                <a:latin typeface="Microsoft YaHei Light"/>
                <a:ea typeface="Microsoft YaHei Light"/>
                <a:cs typeface="Microsoft YaHei Light"/>
              </a:rPr>
              <a:t>点位、分类、路线工具和详情弹层都集中在地图场景内完成。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00ECC8-21C6-4568-BBD4-9CF076735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85800"/>
            <a:ext cx="2905125" cy="5476875"/>
          </a:xfrm>
          <a:prstGeom xmlns:a="http://schemas.openxmlformats.org/drawingml/2006/main" prst="roundRect">
            <a:avLst>
              <a:gd name="adj" fmla="val 7869"/>
            </a:avLst>
          </a:prstGeom>
          <a:solidFill xmlns:a="http://schemas.openxmlformats.org/drawingml/2006/main">
            <a:srgbClr val="102724"/>
          </a:solidFill>
          <a:ln xmlns:a="http://schemas.openxmlformats.org/drawingml/2006/main" w="0">
            <a:solidFill>
              <a:srgbClr val="10272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a6436fc8bc48a3"/>
          <a:srcRect xmlns:a="http://schemas.openxmlformats.org/drawingml/2006/main" l="4865" t="0" r="486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0100" y="781050"/>
            <a:ext cx="2714625" cy="5286375"/>
          </a:xfrm>
          <a:prstGeom xmlns:a="http://schemas.openxmlformats.org/drawingml/2006/main" prst="roundRect">
            <a:avLst>
              <a:gd name="adj" fmla="val 5614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D22FF7-9EF0-428E-8BB2-FC3F1D303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648325"/>
            <a:ext cx="12192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EF6F4"/>
          </a:solidFill>
          <a:ln xmlns:a="http://schemas.openxmlformats.org/drawingml/2006/main" w="9525">
            <a:solidFill>
              <a:srgbClr val="D7E7E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F6B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F6B67"/>
                </a:solidFill>
                <a:latin typeface="Microsoft YaHei"/>
                <a:ea typeface="Microsoft YaHei"/>
                <a:cs typeface="Microsoft YaHei"/>
              </a:rPr>
              <a:t>地图页截图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24274A-A5F6-48C7-96B7-78ACDC8D2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80975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123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3C39"/>
                </a:solidFill>
                <a:latin typeface="Microsoft YaHei"/>
                <a:ea typeface="Microsoft YaHei"/>
                <a:cs typeface="Microsoft YaHei"/>
              </a:rPr>
              <a:t>当前可演示能力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96FBA8-633C-48F9-B05F-AF6EBC2DC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81250"/>
            <a:ext cx="53340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75" b="0">
                <a:solidFill>
                  <a:srgbClr val="123C39"/>
                </a:solidFill>
                <a:latin typeface="Microsoft YaHei Light"/>
                <a:ea typeface="Microsoft YaHei Light"/>
                <a:cs typeface="Microsoft YaHei Light"/>
              </a:defRPr>
            </a:pPr>
            <a:r>
              <a:rPr sz="1575" b="0">
                <a:solidFill>
                  <a:srgbClr val="123C39"/>
                </a:solidFill>
                <a:latin typeface="Microsoft YaHei Light"/>
                <a:ea typeface="Microsoft YaHei Light"/>
                <a:cs typeface="Microsoft YaHei Light"/>
              </a:rPr>
              <a:t>• 分类筛选：景点、美食、住宿、体验、购物、服务。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75" b="0">
                <a:solidFill>
                  <a:srgbClr val="123C39"/>
                </a:solidFill>
                <a:latin typeface="Microsoft YaHei Light"/>
                <a:ea typeface="Microsoft YaHei Light"/>
                <a:cs typeface="Microsoft YaHei Light"/>
              </a:defRPr>
            </a:pPr>
            <a:r>
              <a:rPr sz="1575" b="0">
                <a:solidFill>
                  <a:srgbClr val="123C39"/>
                </a:solidFill>
                <a:latin typeface="Microsoft YaHei Light"/>
                <a:ea typeface="Microsoft YaHei Light"/>
                <a:cs typeface="Microsoft YaHei Light"/>
              </a:rPr>
              <a:t>• 点位弹层：图片、距离、开放信息、详情和导航入口。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75" b="0">
                <a:solidFill>
                  <a:srgbClr val="123C39"/>
                </a:solidFill>
                <a:latin typeface="Microsoft YaHei Light"/>
                <a:ea typeface="Microsoft YaHei Light"/>
                <a:cs typeface="Microsoft YaHei Light"/>
              </a:defRPr>
            </a:pPr>
            <a:r>
              <a:rPr sz="1575" b="0">
                <a:solidFill>
                  <a:srgbClr val="123C39"/>
                </a:solidFill>
                <a:latin typeface="Microsoft YaHei Light"/>
                <a:ea typeface="Microsoft YaHei Light"/>
                <a:cs typeface="Microsoft YaHei Light"/>
              </a:rPr>
              <a:t>• 地图图标：按景点、公共服务、停车、民宿等类型区分。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75" b="0">
                <a:solidFill>
                  <a:srgbClr val="123C39"/>
                </a:solidFill>
                <a:latin typeface="Microsoft YaHei Light"/>
                <a:ea typeface="Microsoft YaHei Light"/>
                <a:cs typeface="Microsoft YaHei Light"/>
              </a:defRPr>
            </a:pPr>
            <a:r>
              <a:rPr sz="1575" b="0">
                <a:solidFill>
                  <a:srgbClr val="123C39"/>
                </a:solidFill>
                <a:latin typeface="Microsoft YaHei Light"/>
                <a:ea typeface="Microsoft YaHei Light"/>
                <a:cs typeface="Microsoft YaHei Light"/>
              </a:rPr>
              <a:t>• 后台可维护点位数据；正式上线前需稳定域名和备案。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af846d6ea146fe"/>
          <a:srcRect xmlns:a="http://schemas.openxmlformats.org/drawingml/2006/main" l="5804" t="0" r="58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2600" y="1409700"/>
            <a:ext cx="1885950" cy="1200150"/>
          </a:xfrm>
          <a:prstGeom xmlns:a="http://schemas.openxmlformats.org/drawingml/2006/main" prst="roundRect">
            <a:avLst>
              <a:gd name="adj" fmla="val 9524"/>
            </a:avLst>
          </a:prstGeom>
        </p:spPr>
      </p:pic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e907fb7c7145e5"/>
          <a:srcRect xmlns:a="http://schemas.openxmlformats.org/drawingml/2006/main" l="17958" t="0" r="1795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2600" y="2838450"/>
            <a:ext cx="1885950" cy="1200150"/>
          </a:xfrm>
          <a:prstGeom xmlns:a="http://schemas.openxmlformats.org/drawingml/2006/main" prst="roundRect">
            <a:avLst>
              <a:gd name="adj" fmla="val 9524"/>
            </a:avLst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e11b71df854f27"/>
          <a:srcRect xmlns:a="http://schemas.openxmlformats.org/drawingml/2006/main" l="17958" t="0" r="1795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2600" y="4267200"/>
            <a:ext cx="1885950" cy="1200150"/>
          </a:xfrm>
          <a:prstGeom xmlns:a="http://schemas.openxmlformats.org/drawingml/2006/main" prst="roundRect">
            <a:avLst>
              <a:gd name="adj" fmla="val 9524"/>
            </a:avLst>
          </a:prstGeom>
        </p:spPr>
      </p:pic>
    </p:spTree>
    <p:extLst>
      <p:ext uri="{BB962C8B-B14F-4D97-AF65-F5344CB8AC3E}">
        <p14:creationId xmlns:p14="http://schemas.microsoft.com/office/powerpoint/2010/main" val="114486829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50E25F-DA2E-49DE-A274-02AF5819E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625" b="1">
                <a:solidFill>
                  <a:srgbClr val="123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23C39"/>
                </a:solidFill>
                <a:latin typeface="Microsoft YaHei"/>
                <a:ea typeface="Microsoft YaHei"/>
                <a:cs typeface="Microsoft YaHei"/>
              </a:rPr>
              <a:t>农品和场地先做预订闭环，不在个人小程序里直接收款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A301A8-10DF-49CF-AD43-966002CE3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607F7A"/>
                </a:solidFill>
                <a:latin typeface="Microsoft YaHei Light"/>
                <a:ea typeface="Microsoft YaHei Light"/>
                <a:cs typeface="Microsoft YaHei Light"/>
              </a:defRPr>
            </a:pPr>
            <a:r>
              <a:rPr sz="1275" b="0">
                <a:solidFill>
                  <a:srgbClr val="607F7A"/>
                </a:solidFill>
                <a:latin typeface="Microsoft YaHei Light"/>
                <a:ea typeface="Microsoft YaHei Light"/>
                <a:cs typeface="Microsoft YaHei Light"/>
              </a:rPr>
              <a:t>当前形态更适合“提交需求—后台确认—线下履约”的审核友好路径。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74FB1B-697A-4F23-9B60-80C9FBD3E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647700"/>
            <a:ext cx="2819400" cy="58293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102724"/>
          </a:solidFill>
          <a:ln xmlns:a="http://schemas.openxmlformats.org/drawingml/2006/main" w="0">
            <a:solidFill>
              <a:srgbClr val="10272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30341e25624865"/>
          <a:srcRect xmlns:a="http://schemas.openxmlformats.org/drawingml/2006/main" l="0" t="1252" r="0" b="12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62900" y="742950"/>
            <a:ext cx="2628900" cy="5638800"/>
          </a:xfrm>
          <a:prstGeom xmlns:a="http://schemas.openxmlformats.org/drawingml/2006/main" prst="roundRect">
            <a:avLst>
              <a:gd name="adj" fmla="val 5797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51FA66-6EF1-4BCF-8505-413D8B438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962650"/>
            <a:ext cx="12192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EF6F4"/>
          </a:solidFill>
          <a:ln xmlns:a="http://schemas.openxmlformats.org/drawingml/2006/main" w="9525">
            <a:solidFill>
              <a:srgbClr val="D7E7E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F6B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F6B67"/>
                </a:solidFill>
                <a:latin typeface="Microsoft YaHei"/>
                <a:ea typeface="Microsoft YaHei"/>
                <a:cs typeface="Microsoft YaHei"/>
              </a:rPr>
              <a:t>农品预订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37f73702b84ddc"/>
          <a:srcRect xmlns:a="http://schemas.openxmlformats.org/drawingml/2006/main" l="0" t="16393" r="0" b="163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752600"/>
            <a:ext cx="2324100" cy="1562100"/>
          </a:xfrm>
          <a:prstGeom xmlns:a="http://schemas.openxmlformats.org/drawingml/2006/main" prst="roundRect">
            <a:avLst>
              <a:gd name="adj" fmla="val 7317"/>
            </a:avLst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fb8a82a32d4b16"/>
          <a:srcRect xmlns:a="http://schemas.openxmlformats.org/drawingml/2006/main" l="0" t="16393" r="0" b="163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38500" y="1752600"/>
            <a:ext cx="2324100" cy="1562100"/>
          </a:xfrm>
          <a:prstGeom xmlns:a="http://schemas.openxmlformats.org/drawingml/2006/main" prst="roundRect">
            <a:avLst>
              <a:gd name="adj" fmla="val 7317"/>
            </a:avLst>
          </a:prstGeom>
        </p:spPr>
      </p:pic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5d371c9f194449"/>
          <a:srcRect xmlns:a="http://schemas.openxmlformats.org/drawingml/2006/main" l="16719" t="0" r="1671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91200" y="1752600"/>
            <a:ext cx="1562100" cy="1562100"/>
          </a:xfrm>
          <a:prstGeom xmlns:a="http://schemas.openxmlformats.org/drawingml/2006/main" prst="roundRect">
            <a:avLst>
              <a:gd name="adj" fmla="val 7317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9ACF6D-17E6-4288-94CB-C92301041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0000"/>
            <a:ext cx="619125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650" b="0">
                <a:solidFill>
                  <a:srgbClr val="123C39"/>
                </a:solidFill>
                <a:latin typeface="Microsoft YaHei Light"/>
                <a:ea typeface="Microsoft YaHei Light"/>
                <a:cs typeface="Microsoft YaHei Light"/>
              </a:defRPr>
            </a:pPr>
            <a:r>
              <a:rPr sz="1650" b="0">
                <a:solidFill>
                  <a:srgbClr val="123C39"/>
                </a:solidFill>
                <a:latin typeface="Microsoft YaHei Light"/>
                <a:ea typeface="Microsoft YaHei Light"/>
                <a:cs typeface="Microsoft YaHei Light"/>
              </a:rPr>
              <a:t>• 农产品：土鸡、土鸡蛋、黑猪肉、土蜂蜜按预订方式提交。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650" b="0">
                <a:solidFill>
                  <a:srgbClr val="123C39"/>
                </a:solidFill>
                <a:latin typeface="Microsoft YaHei Light"/>
                <a:ea typeface="Microsoft YaHei Light"/>
                <a:cs typeface="Microsoft YaHei Light"/>
              </a:defRPr>
            </a:pPr>
            <a:r>
              <a:rPr sz="1650" b="0">
                <a:solidFill>
                  <a:srgbClr val="123C39"/>
                </a:solidFill>
                <a:latin typeface="Microsoft YaHei Light"/>
                <a:ea typeface="Microsoft YaHei Light"/>
                <a:cs typeface="Microsoft YaHei Light"/>
              </a:rPr>
              <a:t>• 民宿/场地：先收集人数、时间、联系方式，由后台确认。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650" b="0">
                <a:solidFill>
                  <a:srgbClr val="123C39"/>
                </a:solidFill>
                <a:latin typeface="Microsoft YaHei Light"/>
                <a:ea typeface="Microsoft YaHei Light"/>
                <a:cs typeface="Microsoft YaHei Light"/>
              </a:defRPr>
            </a:pPr>
            <a:r>
              <a:rPr sz="1650" b="0">
                <a:solidFill>
                  <a:srgbClr val="123C39"/>
                </a:solidFill>
                <a:latin typeface="Microsoft YaHei Light"/>
                <a:ea typeface="Microsoft YaHei Light"/>
                <a:cs typeface="Microsoft YaHei Light"/>
              </a:rPr>
              <a:t>• 支付接口保留结构；个人认证阶段不把付款作为核心流程。</a:t>
            </a:r>
          </a:p>
        </p:txBody>
      </p:sp>
    </p:spTree>
    <p:extLst>
      <p:ext uri="{BB962C8B-B14F-4D97-AF65-F5344CB8AC3E}">
        <p14:creationId xmlns:p14="http://schemas.microsoft.com/office/powerpoint/2010/main" val="13146784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3CC9FE-46A0-448C-9B3A-90CEF15DE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625" b="1">
                <a:solidFill>
                  <a:srgbClr val="123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23C39"/>
                </a:solidFill>
                <a:latin typeface="Microsoft YaHei"/>
                <a:ea typeface="Microsoft YaHei"/>
                <a:cs typeface="Microsoft YaHei"/>
              </a:rPr>
              <a:t>AI 助手现在按测试版边界呈现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8BE488-9DEE-42B3-AE70-5DFB11BCA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607F7A"/>
                </a:solidFill>
                <a:latin typeface="Microsoft YaHei Light"/>
                <a:ea typeface="Microsoft YaHei Light"/>
                <a:cs typeface="Microsoft YaHei Light"/>
              </a:defRPr>
            </a:pPr>
            <a:r>
              <a:rPr sz="1275" b="0">
                <a:solidFill>
                  <a:srgbClr val="607F7A"/>
                </a:solidFill>
                <a:latin typeface="Microsoft YaHei Light"/>
                <a:ea typeface="Microsoft YaHei Light"/>
                <a:cs typeface="Microsoft YaHei Light"/>
              </a:rPr>
              <a:t>它回答已配置的快捷问题，遇到自由输入会说明能力范围，不假装完整 AI 已上线。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C0461C-BC56-455C-8738-454AAC571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71500"/>
            <a:ext cx="2705100" cy="586740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102724"/>
          </a:solidFill>
          <a:ln xmlns:a="http://schemas.openxmlformats.org/drawingml/2006/main" w="0">
            <a:solidFill>
              <a:srgbClr val="10272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bf8422912d46c9"/>
          <a:srcRect xmlns:a="http://schemas.openxmlformats.org/drawingml/2006/main" l="7117" t="0" r="711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86700" y="666750"/>
            <a:ext cx="2514600" cy="5676900"/>
          </a:xfrm>
          <a:prstGeom xmlns:a="http://schemas.openxmlformats.org/drawingml/2006/main" prst="roundRect">
            <a:avLst>
              <a:gd name="adj" fmla="val 6061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A84BD4-3AF3-4259-9839-6C802F30C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924550"/>
            <a:ext cx="12192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EF6F4"/>
          </a:solidFill>
          <a:ln xmlns:a="http://schemas.openxmlformats.org/drawingml/2006/main" w="9525">
            <a:solidFill>
              <a:srgbClr val="D7E7E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F6B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F6B67"/>
                </a:solidFill>
                <a:latin typeface="Microsoft YaHei"/>
                <a:ea typeface="Microsoft YaHei"/>
                <a:cs typeface="Microsoft YaHei"/>
              </a:rPr>
              <a:t>AI 助手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168E82-D0D0-4376-9168-63860E11A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123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3C39"/>
                </a:solidFill>
                <a:latin typeface="Microsoft YaHei"/>
                <a:ea typeface="Microsoft YaHei"/>
                <a:cs typeface="Microsoft YaHei"/>
              </a:rPr>
              <a:t>演示时建议这样讲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D85ABB-B48C-47B5-BBD9-5796B54BC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619125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650" b="0">
                <a:solidFill>
                  <a:srgbClr val="123C39"/>
                </a:solidFill>
                <a:latin typeface="Microsoft YaHei Light"/>
                <a:ea typeface="Microsoft YaHei Light"/>
                <a:cs typeface="Microsoft YaHei Light"/>
              </a:defRPr>
            </a:pPr>
            <a:r>
              <a:rPr sz="1650" b="0">
                <a:solidFill>
                  <a:srgbClr val="123C39"/>
                </a:solidFill>
                <a:latin typeface="Microsoft YaHei Light"/>
                <a:ea typeface="Microsoft YaHei Light"/>
                <a:cs typeface="Microsoft YaHei Light"/>
              </a:rPr>
              <a:t>• 快捷问题覆盖半日路线、亲子研学、田鱼家宴、古树、停车、直播、民宿和雨天玩法。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650" b="0">
                <a:solidFill>
                  <a:srgbClr val="123C39"/>
                </a:solidFill>
                <a:latin typeface="Microsoft YaHei Light"/>
                <a:ea typeface="Microsoft YaHei Light"/>
                <a:cs typeface="Microsoft YaHei Light"/>
              </a:defRPr>
            </a:pPr>
            <a:r>
              <a:rPr sz="1650" b="0">
                <a:solidFill>
                  <a:srgbClr val="123C39"/>
                </a:solidFill>
                <a:latin typeface="Microsoft YaHei Light"/>
                <a:ea typeface="Microsoft YaHei Light"/>
                <a:cs typeface="Microsoft YaHei Light"/>
              </a:rPr>
              <a:t>• 非预设问题给出测试版说明，避免审核或现场演示时误导。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650" b="0">
                <a:solidFill>
                  <a:srgbClr val="123C39"/>
                </a:solidFill>
                <a:latin typeface="Microsoft YaHei Light"/>
                <a:ea typeface="Microsoft YaHei Light"/>
                <a:cs typeface="Microsoft YaHei Light"/>
              </a:defRPr>
            </a:pPr>
            <a:r>
              <a:rPr sz="1650" b="0">
                <a:solidFill>
                  <a:srgbClr val="123C39"/>
                </a:solidFill>
                <a:latin typeface="Microsoft YaHei Light"/>
                <a:ea typeface="Microsoft YaHei Light"/>
                <a:cs typeface="Microsoft YaHei Light"/>
              </a:rPr>
              <a:t>• 后续 Kimi / 其他模型接入稳定域名和密钥后，再开放更自由的问答。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D9BC57-3C3F-4DAE-BE86-54EB64B5A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0"/>
            <a:ext cx="12192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EF6F4"/>
          </a:solidFill>
          <a:ln xmlns:a="http://schemas.openxmlformats.org/drawingml/2006/main" w="9525">
            <a:solidFill>
              <a:srgbClr val="D7E7E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F6B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F6B67"/>
                </a:solidFill>
                <a:latin typeface="Microsoft YaHei"/>
                <a:ea typeface="Microsoft YaHei"/>
                <a:cs typeface="Microsoft YaHei"/>
              </a:rPr>
              <a:t>边界清晰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32BDA9-17F3-4A69-985F-D3B6D4601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953000"/>
            <a:ext cx="13716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EF6F4"/>
          </a:solidFill>
          <a:ln xmlns:a="http://schemas.openxmlformats.org/drawingml/2006/main" w="9525">
            <a:solidFill>
              <a:srgbClr val="D7E7E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F6B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F6B67"/>
                </a:solidFill>
                <a:latin typeface="Microsoft YaHei"/>
                <a:ea typeface="Microsoft YaHei"/>
                <a:cs typeface="Microsoft YaHei"/>
              </a:rPr>
              <a:t>可逐步扩展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BD2142-C76B-40A5-9E40-F57A169D2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953000"/>
            <a:ext cx="16954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EF6F4"/>
          </a:solidFill>
          <a:ln xmlns:a="http://schemas.openxmlformats.org/drawingml/2006/main" w="9525">
            <a:solidFill>
              <a:srgbClr val="D7E7E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F6B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F6B67"/>
                </a:solidFill>
                <a:latin typeface="Microsoft YaHei"/>
                <a:ea typeface="Microsoft YaHei"/>
                <a:cs typeface="Microsoft YaHei"/>
              </a:rPr>
              <a:t>不伪装正式接入</a:t>
            </a:r>
          </a:p>
        </p:txBody>
      </p:sp>
    </p:spTree>
    <p:extLst>
      <p:ext uri="{BB962C8B-B14F-4D97-AF65-F5344CB8AC3E}">
        <p14:creationId xmlns:p14="http://schemas.microsoft.com/office/powerpoint/2010/main" val="13356674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368F3D-948E-416E-AF16-2243EA224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625" b="1">
                <a:solidFill>
                  <a:srgbClr val="123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23C39"/>
                </a:solidFill>
                <a:latin typeface="Microsoft YaHei"/>
                <a:ea typeface="Microsoft YaHei"/>
                <a:cs typeface="Microsoft YaHei"/>
              </a:rPr>
              <a:t>下一步重点是把演示版变成稳定上线版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BD1695-F8CB-4207-AF7C-E3D09F00B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607F7A"/>
                </a:solidFill>
                <a:latin typeface="Microsoft YaHei Light"/>
                <a:ea typeface="Microsoft YaHei Light"/>
                <a:cs typeface="Microsoft YaHei Light"/>
              </a:defRPr>
            </a:pPr>
            <a:r>
              <a:rPr sz="1275" b="0">
                <a:solidFill>
                  <a:srgbClr val="607F7A"/>
                </a:solidFill>
                <a:latin typeface="Microsoft YaHei Light"/>
                <a:ea typeface="Microsoft YaHei Light"/>
                <a:cs typeface="Microsoft YaHei Light"/>
              </a:rPr>
              <a:t>小程序体验已能演示，正式联通还取决于域名备案、服务端部署和第三方凭证。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35754E-D410-4CDC-ABB2-99D42D95B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954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0F6B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F6B67"/>
                </a:solidFill>
                <a:latin typeface="Microsoft YaHei"/>
                <a:ea typeface="Microsoft YaHei"/>
                <a:cs typeface="Microsoft YaHei"/>
              </a:rPr>
              <a:t>已经可用于演示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C93A9A-412D-48CB-B661-7FC7F7395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24100"/>
            <a:ext cx="4810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75" b="0">
                <a:solidFill>
                  <a:srgbClr val="123C39"/>
                </a:solidFill>
                <a:latin typeface="Microsoft YaHei Light"/>
                <a:ea typeface="Microsoft YaHei Light"/>
                <a:cs typeface="Microsoft YaHei Light"/>
              </a:defRPr>
            </a:pPr>
            <a:r>
              <a:rPr sz="1575" b="0">
                <a:solidFill>
                  <a:srgbClr val="123C39"/>
                </a:solidFill>
                <a:latin typeface="Microsoft YaHei Light"/>
                <a:ea typeface="Microsoft YaHei Light"/>
                <a:cs typeface="Microsoft YaHei Light"/>
              </a:rPr>
              <a:t>• 首页、地图、农品预订、民宿场地、AI 助手页面已具备完整视觉动线。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75" b="0">
                <a:solidFill>
                  <a:srgbClr val="123C39"/>
                </a:solidFill>
                <a:latin typeface="Microsoft YaHei Light"/>
                <a:ea typeface="Microsoft YaHei Light"/>
                <a:cs typeface="Microsoft YaHei Light"/>
              </a:defRPr>
            </a:pPr>
            <a:r>
              <a:rPr sz="1575" b="0">
                <a:solidFill>
                  <a:srgbClr val="123C39"/>
                </a:solidFill>
                <a:latin typeface="Microsoft YaHei Light"/>
                <a:ea typeface="Microsoft YaHei Light"/>
                <a:cs typeface="Microsoft YaHei Light"/>
              </a:rPr>
              <a:t>• 图片压缩和包体控制已通过测试，当前上传包体约 630KB。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75" b="0">
                <a:solidFill>
                  <a:srgbClr val="123C39"/>
                </a:solidFill>
                <a:latin typeface="Microsoft YaHei Light"/>
                <a:ea typeface="Microsoft YaHei Light"/>
                <a:cs typeface="Microsoft YaHei Light"/>
              </a:defRPr>
            </a:pPr>
            <a:r>
              <a:rPr sz="1575" b="0">
                <a:solidFill>
                  <a:srgbClr val="123C39"/>
                </a:solidFill>
                <a:latin typeface="Microsoft YaHei Light"/>
                <a:ea typeface="Microsoft YaHei Light"/>
                <a:cs typeface="Microsoft YaHei Light"/>
              </a:rPr>
              <a:t>• 后台管理和小程序接口适配已具备联调基础。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A3CC30-84EA-4526-AA13-4588F8EB3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95450"/>
            <a:ext cx="361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A747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A7472D"/>
                </a:solidFill>
                <a:latin typeface="Microsoft YaHei"/>
                <a:ea typeface="Microsoft YaHei"/>
                <a:cs typeface="Microsoft YaHei"/>
              </a:rPr>
              <a:t>上线前仍需处理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5DF755-C718-4DA0-85C1-ADAF2C639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24100"/>
            <a:ext cx="47625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75" b="0">
                <a:solidFill>
                  <a:srgbClr val="123C39"/>
                </a:solidFill>
                <a:latin typeface="Microsoft YaHei Light"/>
                <a:ea typeface="Microsoft YaHei Light"/>
                <a:cs typeface="Microsoft YaHei Light"/>
              </a:defRPr>
            </a:pPr>
            <a:r>
              <a:rPr sz="1575" b="0">
                <a:solidFill>
                  <a:srgbClr val="123C39"/>
                </a:solidFill>
                <a:latin typeface="Microsoft YaHei Light"/>
                <a:ea typeface="Microsoft YaHei Light"/>
                <a:cs typeface="Microsoft YaHei Light"/>
              </a:rPr>
              <a:t>• api.hailin.store 的 ICP 备案/接入备案，或临时使用 www.hailin.store 兜底演示。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75" b="0">
                <a:solidFill>
                  <a:srgbClr val="123C39"/>
                </a:solidFill>
                <a:latin typeface="Microsoft YaHei Light"/>
                <a:ea typeface="Microsoft YaHei Light"/>
                <a:cs typeface="Microsoft YaHei Light"/>
              </a:defRPr>
            </a:pPr>
            <a:r>
              <a:rPr sz="1575" b="0">
                <a:solidFill>
                  <a:srgbClr val="123C39"/>
                </a:solidFill>
                <a:latin typeface="Microsoft YaHei Light"/>
                <a:ea typeface="Microsoft YaHei Light"/>
                <a:cs typeface="Microsoft YaHei Light"/>
              </a:rPr>
              <a:t>• 微信正式 AppID、服务器域名、安全域名和 HTTPS 证书配置。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75" b="0">
                <a:solidFill>
                  <a:srgbClr val="123C39"/>
                </a:solidFill>
                <a:latin typeface="Microsoft YaHei Light"/>
                <a:ea typeface="Microsoft YaHei Light"/>
                <a:cs typeface="Microsoft YaHei Light"/>
              </a:defRPr>
            </a:pPr>
            <a:r>
              <a:rPr sz="1575" b="0">
                <a:solidFill>
                  <a:srgbClr val="123C39"/>
                </a:solidFill>
                <a:latin typeface="Microsoft YaHei Light"/>
                <a:ea typeface="Microsoft YaHei Light"/>
                <a:cs typeface="Microsoft YaHei Light"/>
              </a:rPr>
              <a:t>• 高德、萤石云、Kimi、对象存储等正式凭证按后台配置接入。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B569D5-6B08-479C-8655-22F302E95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19750"/>
            <a:ext cx="102870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7E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DC1679-40C6-441F-A407-7F0541784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762625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123C39"/>
                </a:solidFill>
                <a:latin typeface="Microsoft YaHei Light"/>
                <a:ea typeface="Microsoft YaHei Light"/>
                <a:cs typeface="Microsoft YaHei Light"/>
              </a:defRPr>
            </a:pPr>
            <a:r>
              <a:rPr sz="1350" b="0">
                <a:solidFill>
                  <a:srgbClr val="123C39"/>
                </a:solidFill>
                <a:latin typeface="Microsoft YaHei Light"/>
                <a:ea typeface="Microsoft YaHei Light"/>
                <a:cs typeface="Microsoft YaHei Light"/>
              </a:rPr>
              <a:t>建议：本阶段以“可演示、可审核、可继续联调”为目标，支付和完整 AI 自由问答放到资质与域名稳定后推进。</a:t>
            </a:r>
          </a:p>
        </p:txBody>
      </p:sp>
    </p:spTree>
    <p:extLst>
      <p:ext uri="{BB962C8B-B14F-4D97-AF65-F5344CB8AC3E}">
        <p14:creationId xmlns:p14="http://schemas.microsoft.com/office/powerpoint/2010/main" val="32143762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A4D7B5-1E94-414D-90C2-38E4E37C0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625" b="1">
                <a:solidFill>
                  <a:srgbClr val="123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23C39"/>
                </a:solidFill>
                <a:latin typeface="Microsoft YaHei"/>
                <a:ea typeface="Microsoft YaHei"/>
                <a:cs typeface="Microsoft YaHei"/>
              </a:rPr>
              <a:t>后台与小程序的联通路径已经拆清楚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15B0FE-1635-4734-B643-AC8984061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607F7A"/>
                </a:solidFill>
                <a:latin typeface="Microsoft YaHei Light"/>
                <a:ea typeface="Microsoft YaHei Light"/>
                <a:cs typeface="Microsoft YaHei Light"/>
              </a:defRPr>
            </a:pPr>
            <a:r>
              <a:rPr sz="1275" b="0">
                <a:solidFill>
                  <a:srgbClr val="607F7A"/>
                </a:solidFill>
                <a:latin typeface="Microsoft YaHei Light"/>
                <a:ea typeface="Microsoft YaHei Light"/>
                <a:cs typeface="Microsoft YaHei Light"/>
              </a:rPr>
              <a:t>演示阶段可走 www.hailin.store，正式上线仍建议回到 api.hailin.store。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5CA38A-0668-467C-9678-E00D79EDC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22669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7E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35E60E-6A00-4D6C-8572-272F78D4F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8120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23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23C39"/>
                </a:solidFill>
                <a:latin typeface="Microsoft YaHei"/>
                <a:ea typeface="Microsoft YaHei"/>
                <a:cs typeface="Microsoft YaHei"/>
              </a:rPr>
              <a:t>小程序端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C345CD-75E2-4E17-B2AD-2E464D586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24100"/>
            <a:ext cx="1847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607F7A"/>
                </a:solidFill>
                <a:latin typeface="Microsoft YaHei Light"/>
                <a:ea typeface="Microsoft YaHei Light"/>
                <a:cs typeface="Microsoft YaHei Light"/>
              </a:defRPr>
            </a:pPr>
            <a:r>
              <a:rPr sz="1200" b="0">
                <a:solidFill>
                  <a:srgbClr val="607F7A"/>
                </a:solidFill>
                <a:latin typeface="Microsoft YaHei Light"/>
                <a:ea typeface="Microsoft YaHei Light"/>
                <a:cs typeface="Microsoft YaHei Light"/>
              </a:rPr>
              <a:t>首页、地图、预订、AI 助手统一请求 /api/v1。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0F98A8-BDDD-4014-A368-5E6D1061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09800"/>
            <a:ext cx="457200" cy="2667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D69A36"/>
          </a:solidFill>
          <a:ln xmlns:a="http://schemas.openxmlformats.org/drawingml/2006/main" w="0">
            <a:solidFill>
              <a:srgbClr val="D69A3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13EE72-5A16-4475-9B12-D9D6716DF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790700"/>
            <a:ext cx="22669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7E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A0E555-5E96-4870-AA07-291A0C17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98120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23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23C39"/>
                </a:solidFill>
                <a:latin typeface="Microsoft YaHei"/>
                <a:ea typeface="Microsoft YaHei"/>
                <a:cs typeface="Microsoft YaHei"/>
              </a:rPr>
              <a:t>HTTPS 域名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C893C8-E741-48AA-AD42-71F828CE0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24100"/>
            <a:ext cx="1847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607F7A"/>
                </a:solidFill>
                <a:latin typeface="Microsoft YaHei Light"/>
                <a:ea typeface="Microsoft YaHei Light"/>
                <a:cs typeface="Microsoft YaHei Light"/>
              </a:defRPr>
            </a:pPr>
            <a:r>
              <a:rPr sz="1200" b="0">
                <a:solidFill>
                  <a:srgbClr val="607F7A"/>
                </a:solidFill>
                <a:latin typeface="Microsoft YaHei Light"/>
                <a:ea typeface="Microsoft YaHei Light"/>
                <a:cs typeface="Microsoft YaHei Light"/>
              </a:rPr>
              <a:t>临时演示用 www，正式服务用 api 子域名。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F7FD55-06CB-43C9-A53B-49D28C7F7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09800"/>
            <a:ext cx="457200" cy="2667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D69A36"/>
          </a:solidFill>
          <a:ln xmlns:a="http://schemas.openxmlformats.org/drawingml/2006/main" w="0">
            <a:solidFill>
              <a:srgbClr val="D69A3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168523-E558-4E82-AED4-6E155E866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790700"/>
            <a:ext cx="22669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7E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079C03-AFAD-4205-A5EB-43C9FD4D8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98120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23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23C39"/>
                </a:solidFill>
                <a:latin typeface="Microsoft YaHei"/>
                <a:ea typeface="Microsoft YaHei"/>
                <a:cs typeface="Microsoft YaHei"/>
              </a:rPr>
              <a:t>后端服务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7E9B86-F33C-4F10-BF70-7B88E02EC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324100"/>
            <a:ext cx="1847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607F7A"/>
                </a:solidFill>
                <a:latin typeface="Microsoft YaHei Light"/>
                <a:ea typeface="Microsoft YaHei Light"/>
                <a:cs typeface="Microsoft YaHei Light"/>
              </a:defRPr>
            </a:pPr>
            <a:r>
              <a:rPr sz="1200" b="0">
                <a:solidFill>
                  <a:srgbClr val="607F7A"/>
                </a:solidFill>
                <a:latin typeface="Microsoft YaHei Light"/>
                <a:ea typeface="Microsoft YaHei Light"/>
                <a:cs typeface="Microsoft YaHei Light"/>
              </a:rPr>
              <a:t>Node/Nest API 负责数据、配置、AI 代理和后台接口。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2097D3-9ED6-472F-9F8B-940AECFEF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209800"/>
            <a:ext cx="457200" cy="2667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D69A36"/>
          </a:solidFill>
          <a:ln xmlns:a="http://schemas.openxmlformats.org/drawingml/2006/main" w="0">
            <a:solidFill>
              <a:srgbClr val="D69A3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981D52-13E9-4B5B-BDF0-7A30844C2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790700"/>
            <a:ext cx="15049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7E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BA9FA1-EEAE-47E6-95F0-E3240ACED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198120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23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23C39"/>
                </a:solidFill>
                <a:latin typeface="Microsoft YaHei"/>
                <a:ea typeface="Microsoft YaHei"/>
                <a:cs typeface="Microsoft YaHei"/>
              </a:rPr>
              <a:t>数据与外部服务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B64CF4-A7CB-4F60-90A6-36E4F443A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324100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607F7A"/>
                </a:solidFill>
                <a:latin typeface="Microsoft YaHei Light"/>
                <a:ea typeface="Microsoft YaHei Light"/>
                <a:cs typeface="Microsoft YaHei Light"/>
              </a:defRPr>
            </a:pPr>
            <a:r>
              <a:rPr sz="1200" b="0">
                <a:solidFill>
                  <a:srgbClr val="607F7A"/>
                </a:solidFill>
                <a:latin typeface="Microsoft YaHei Light"/>
                <a:ea typeface="Microsoft YaHei Light"/>
                <a:cs typeface="Microsoft YaHei Light"/>
              </a:rPr>
              <a:t>数据库、图片资源、地图、Kimi、直播等按凭证接入。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3E623E-709B-427D-9DF9-672F59B4D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23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23C39"/>
                </a:solidFill>
                <a:latin typeface="Microsoft YaHei"/>
                <a:ea typeface="Microsoft YaHei"/>
                <a:cs typeface="Microsoft YaHei"/>
              </a:rPr>
              <a:t>当前判断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516A81-BBA6-4DC7-BD39-C3A1F9BFA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67200"/>
            <a:ext cx="100965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75" b="0">
                <a:solidFill>
                  <a:srgbClr val="123C39"/>
                </a:solidFill>
                <a:latin typeface="Microsoft YaHei Light"/>
                <a:ea typeface="Microsoft YaHei Light"/>
                <a:cs typeface="Microsoft YaHei Light"/>
              </a:defRPr>
            </a:pPr>
            <a:r>
              <a:rPr sz="1575" b="0">
                <a:solidFill>
                  <a:srgbClr val="123C39"/>
                </a:solidFill>
                <a:latin typeface="Microsoft YaHei Light"/>
                <a:ea typeface="Microsoft YaHei Light"/>
                <a:cs typeface="Microsoft YaHei Light"/>
              </a:rPr>
              <a:t>• 代码侧已经把接口、后台设置和小程序请求口径统一到 /api/v1。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75" b="0">
                <a:solidFill>
                  <a:srgbClr val="123C39"/>
                </a:solidFill>
                <a:latin typeface="Microsoft YaHei Light"/>
                <a:ea typeface="Microsoft YaHei Light"/>
                <a:cs typeface="Microsoft YaHei Light"/>
              </a:defRPr>
            </a:pPr>
            <a:r>
              <a:rPr sz="1575" b="0">
                <a:solidFill>
                  <a:srgbClr val="123C39"/>
                </a:solidFill>
                <a:latin typeface="Microsoft YaHei Light"/>
                <a:ea typeface="Microsoft YaHei Light"/>
                <a:cs typeface="Microsoft YaHei Light"/>
              </a:rPr>
              <a:t>• 主要阻塞不在页面，而在大陆服务器域名备案/接入备案完成前，api 子域名可能被拦截。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75" b="0">
                <a:solidFill>
                  <a:srgbClr val="123C39"/>
                </a:solidFill>
                <a:latin typeface="Microsoft YaHei Light"/>
                <a:ea typeface="Microsoft YaHei Light"/>
                <a:cs typeface="Microsoft YaHei Light"/>
              </a:defRPr>
            </a:pPr>
            <a:r>
              <a:rPr sz="1575" b="0">
                <a:solidFill>
                  <a:srgbClr val="123C39"/>
                </a:solidFill>
                <a:latin typeface="Microsoft YaHei Light"/>
                <a:ea typeface="Microsoft YaHei Light"/>
                <a:cs typeface="Microsoft YaHei Light"/>
              </a:rPr>
              <a:t>• 临时演示可以用 www.hailin.store 兜底；正式提交后建议补备案并回切 api.hailin.store。</a:t>
            </a:r>
          </a:p>
        </p:txBody>
      </p:sp>
    </p:spTree>
    <p:extLst>
      <p:ext uri="{BB962C8B-B14F-4D97-AF65-F5344CB8AC3E}">
        <p14:creationId xmlns:p14="http://schemas.microsoft.com/office/powerpoint/2010/main" val="208726881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EEF6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4B9E8D-C340-4B01-A25B-C31993F66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625" b="1">
                <a:solidFill>
                  <a:srgbClr val="123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23C39"/>
                </a:solidFill>
                <a:latin typeface="Microsoft YaHei"/>
                <a:ea typeface="Microsoft YaHei"/>
                <a:cs typeface="Microsoft YaHei"/>
              </a:rPr>
              <a:t>后台不是只看数据，要能真正改前台内容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4021DF-DFD5-4F33-9122-21521BDDE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607F7A"/>
                </a:solidFill>
                <a:latin typeface="Microsoft YaHei Light"/>
                <a:ea typeface="Microsoft YaHei Light"/>
                <a:cs typeface="Microsoft YaHei Light"/>
              </a:defRPr>
            </a:pPr>
            <a:r>
              <a:rPr sz="1275" b="0">
                <a:solidFill>
                  <a:srgbClr val="607F7A"/>
                </a:solidFill>
                <a:latin typeface="Microsoft YaHei Light"/>
                <a:ea typeface="Microsoft YaHei Light"/>
                <a:cs typeface="Microsoft YaHei Light"/>
              </a:rPr>
              <a:t>这一页用于汇报“后台可运营范围”，也方便后续验收逐项打勾。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5D59E5-F838-49A4-8042-D41AD5174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57350"/>
            <a:ext cx="43815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7E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1D47B9-37C8-4224-B725-4E0407D18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47850"/>
            <a:ext cx="396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23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23C39"/>
                </a:solidFill>
                <a:latin typeface="Microsoft YaHei"/>
                <a:ea typeface="Microsoft YaHei"/>
                <a:cs typeface="Microsoft YaHei"/>
              </a:rPr>
              <a:t>品牌开关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CCC5D0-F131-4E7D-81ED-42FF1303C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90750"/>
            <a:ext cx="3962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607F7A"/>
                </a:solidFill>
                <a:latin typeface="Microsoft YaHei Light"/>
                <a:ea typeface="Microsoft YaHei Light"/>
                <a:cs typeface="Microsoft YaHei Light"/>
              </a:defRPr>
            </a:pPr>
            <a:r>
              <a:rPr sz="1200" b="0">
                <a:solidFill>
                  <a:srgbClr val="607F7A"/>
                </a:solidFill>
                <a:latin typeface="Microsoft YaHei Light"/>
                <a:ea typeface="Microsoft YaHei Light"/>
                <a:cs typeface="Microsoft YaHei Light"/>
              </a:rPr>
              <a:t>海林/黄湖命名可切换，影响首页、地图、AI 文案与导航。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B2E745-33FE-42D5-A517-50982659F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33700"/>
            <a:ext cx="43815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7E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49BF74-5630-47B6-B4F3-982DAD6AC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24200"/>
            <a:ext cx="396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23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23C39"/>
                </a:solidFill>
                <a:latin typeface="Microsoft YaHei"/>
                <a:ea typeface="Microsoft YaHei"/>
                <a:cs typeface="Microsoft YaHei"/>
              </a:rPr>
              <a:t>首页内容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0BE8E8-F911-4778-9DDD-3FDF1B114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67100"/>
            <a:ext cx="3962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607F7A"/>
                </a:solidFill>
                <a:latin typeface="Microsoft YaHei Light"/>
                <a:ea typeface="Microsoft YaHei Light"/>
                <a:cs typeface="Microsoft YaHei Light"/>
              </a:defRPr>
            </a:pPr>
            <a:r>
              <a:rPr sz="1200" b="0">
                <a:solidFill>
                  <a:srgbClr val="607F7A"/>
                </a:solidFill>
                <a:latin typeface="Microsoft YaHei Light"/>
                <a:ea typeface="Microsoft YaHei Light"/>
                <a:cs typeface="Microsoft YaHei Light"/>
              </a:rPr>
              <a:t>轮播、公告、功能入口、路线推荐和热门推荐可维护。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7C9F7D-556C-4208-BF7B-9B9DD4810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10050"/>
            <a:ext cx="43815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7E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29CD22-A0C7-408E-A5B8-F73B72CFE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00550"/>
            <a:ext cx="396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23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23C39"/>
                </a:solidFill>
                <a:latin typeface="Microsoft YaHei"/>
                <a:ea typeface="Microsoft YaHei"/>
                <a:cs typeface="Microsoft YaHei"/>
              </a:rPr>
              <a:t>地图点位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C10CCF-AAD5-4CFE-8D0F-50F4B8B20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43450"/>
            <a:ext cx="3962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607F7A"/>
                </a:solidFill>
                <a:latin typeface="Microsoft YaHei Light"/>
                <a:ea typeface="Microsoft YaHei Light"/>
                <a:cs typeface="Microsoft YaHei Light"/>
              </a:defRPr>
            </a:pPr>
            <a:r>
              <a:rPr sz="1200" b="0">
                <a:solidFill>
                  <a:srgbClr val="607F7A"/>
                </a:solidFill>
                <a:latin typeface="Microsoft YaHei Light"/>
                <a:ea typeface="Microsoft YaHei Light"/>
                <a:cs typeface="Microsoft YaHei Light"/>
              </a:rPr>
              <a:t>点位名称、分类、图片、说明、导航信息可维护。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AEBEF6-7359-482D-A7FB-650090C57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657350"/>
            <a:ext cx="47625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7E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7812EF-57EC-437A-B205-7B8D48E6E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847850"/>
            <a:ext cx="434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23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23C39"/>
                </a:solidFill>
                <a:latin typeface="Microsoft YaHei"/>
                <a:ea typeface="Microsoft YaHei"/>
                <a:cs typeface="Microsoft YaHei"/>
              </a:rPr>
              <a:t>农品与订单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54C5F1-9400-43BD-B762-505A347AE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190750"/>
            <a:ext cx="434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607F7A"/>
                </a:solidFill>
                <a:latin typeface="Microsoft YaHei Light"/>
                <a:ea typeface="Microsoft YaHei Light"/>
                <a:cs typeface="Microsoft YaHei Light"/>
              </a:defRPr>
            </a:pPr>
            <a:r>
              <a:rPr sz="1200" b="0">
                <a:solidFill>
                  <a:srgbClr val="607F7A"/>
                </a:solidFill>
                <a:latin typeface="Microsoft YaHei Light"/>
                <a:ea typeface="Microsoft YaHei Light"/>
                <a:cs typeface="Microsoft YaHei Light"/>
              </a:rPr>
              <a:t>商品上下架、库存、预订信息、订单状态由后台确认。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1198F7-194C-4481-924E-0B0D76AE4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933700"/>
            <a:ext cx="47625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7E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E1777E-802B-4316-98C1-807859A0D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124200"/>
            <a:ext cx="434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23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23C39"/>
                </a:solidFill>
                <a:latin typeface="Microsoft YaHei"/>
                <a:ea typeface="Microsoft YaHei"/>
                <a:cs typeface="Microsoft YaHei"/>
              </a:rPr>
              <a:t>场地与民宿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1E79CD-699A-4B57-BE3C-1A48AD935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467100"/>
            <a:ext cx="434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607F7A"/>
                </a:solidFill>
                <a:latin typeface="Microsoft YaHei Light"/>
                <a:ea typeface="Microsoft YaHei Light"/>
                <a:cs typeface="Microsoft YaHei Light"/>
              </a:defRPr>
            </a:pPr>
            <a:r>
              <a:rPr sz="1200" b="0">
                <a:solidFill>
                  <a:srgbClr val="607F7A"/>
                </a:solidFill>
                <a:latin typeface="Microsoft YaHei Light"/>
                <a:ea typeface="Microsoft YaHei Light"/>
                <a:cs typeface="Microsoft YaHei Light"/>
              </a:rPr>
              <a:t>预约需求、人数、时间、联系方式进入后台处理。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042947-C084-43A3-B42B-F274377EC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210050"/>
            <a:ext cx="47625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7E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76807B-B30F-467B-9FFE-9700E1846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00550"/>
            <a:ext cx="434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23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23C39"/>
                </a:solidFill>
                <a:latin typeface="Microsoft YaHei"/>
                <a:ea typeface="Microsoft YaHei"/>
                <a:cs typeface="Microsoft YaHei"/>
              </a:rPr>
              <a:t>第三方 Key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CC37B3-093F-4DA1-9E54-11EC24BAA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743450"/>
            <a:ext cx="434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607F7A"/>
                </a:solidFill>
                <a:latin typeface="Microsoft YaHei Light"/>
                <a:ea typeface="Microsoft YaHei Light"/>
                <a:cs typeface="Microsoft YaHei Light"/>
              </a:defRPr>
            </a:pPr>
            <a:r>
              <a:rPr sz="1200" b="0">
                <a:solidFill>
                  <a:srgbClr val="607F7A"/>
                </a:solidFill>
                <a:latin typeface="Microsoft YaHei Light"/>
                <a:ea typeface="Microsoft YaHei Light"/>
                <a:cs typeface="Microsoft YaHei Light"/>
              </a:rPr>
              <a:t>高德、Kimi、直播、存储凭证统一在后台配置入口管理。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F40A91-1302-48DA-B7C2-0FAAB996E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72150"/>
            <a:ext cx="981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123C39"/>
                </a:solidFill>
                <a:latin typeface="Microsoft YaHei Light"/>
                <a:ea typeface="Microsoft YaHei Light"/>
                <a:cs typeface="Microsoft YaHei Light"/>
              </a:defRPr>
            </a:pPr>
            <a:r>
              <a:rPr sz="1425" b="0">
                <a:solidFill>
                  <a:srgbClr val="123C39"/>
                </a:solidFill>
                <a:latin typeface="Microsoft YaHei Light"/>
                <a:ea typeface="Microsoft YaHei Light"/>
                <a:cs typeface="Microsoft YaHei Light"/>
              </a:rPr>
              <a:t>验收口径：在后台修改后，小程序对应页面刷新应能看到变化；若走临时 www 域名，先以演示兜底链路验证。</a:t>
            </a:r>
          </a:p>
        </p:txBody>
      </p:sp>
    </p:spTree>
    <p:extLst>
      <p:ext uri="{BB962C8B-B14F-4D97-AF65-F5344CB8AC3E}">
        <p14:creationId xmlns:p14="http://schemas.microsoft.com/office/powerpoint/2010/main" val="105701801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CF4635-DAD9-4391-B747-497E9CB28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625" b="1">
                <a:solidFill>
                  <a:srgbClr val="123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23C39"/>
                </a:solidFill>
                <a:latin typeface="Microsoft YaHei"/>
                <a:ea typeface="Microsoft YaHei"/>
                <a:cs typeface="Microsoft YaHei"/>
              </a:rPr>
              <a:t>提交审核前重点检查域名、包体和页面边界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8CCE64-7830-4941-B277-BBAE6CAD9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607F7A"/>
                </a:solidFill>
                <a:latin typeface="Microsoft YaHei Light"/>
                <a:ea typeface="Microsoft YaHei Light"/>
                <a:cs typeface="Microsoft YaHei Light"/>
              </a:defRPr>
            </a:pPr>
            <a:r>
              <a:rPr sz="1275" b="0">
                <a:solidFill>
                  <a:srgbClr val="607F7A"/>
                </a:solidFill>
                <a:latin typeface="Microsoft YaHei Light"/>
                <a:ea typeface="Microsoft YaHei Light"/>
                <a:cs typeface="Microsoft YaHei Light"/>
              </a:rPr>
              <a:t>这页可以作为给运营方看的提交前 checklist。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9bf641d77849d9"/>
          <a:srcRect xmlns:a="http://schemas.openxmlformats.org/drawingml/2006/main" l="1499" t="0" r="149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" y="1619250"/>
            <a:ext cx="4953000" cy="2819400"/>
          </a:xfrm>
          <a:prstGeom xmlns:a="http://schemas.openxmlformats.org/drawingml/2006/main" prst="roundRect">
            <a:avLst>
              <a:gd name="adj" fmla="val 4054"/>
            </a:avLst>
          </a:prstGeom>
        </p:spPr>
      </p:pic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0b723b78254f38"/>
          <a:srcRect xmlns:a="http://schemas.openxmlformats.org/drawingml/2006/main" l="21809" t="0" r="2180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1619250"/>
            <a:ext cx="4572000" cy="2819400"/>
          </a:xfrm>
          <a:prstGeom xmlns:a="http://schemas.openxmlformats.org/drawingml/2006/main" prst="roundRect">
            <a:avLst>
              <a:gd name="adj" fmla="val 4054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F82529-F0F3-4C43-B01E-B5387FC35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196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23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23C39"/>
                </a:solidFill>
                <a:latin typeface="Microsoft YaHei"/>
                <a:ea typeface="Microsoft YaHei"/>
                <a:cs typeface="Microsoft YaHei"/>
              </a:rPr>
              <a:t>提交前确认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098332-CC97-4B26-8922-266B4152C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14950"/>
            <a:ext cx="99060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350" b="0">
                <a:solidFill>
                  <a:srgbClr val="123C39"/>
                </a:solidFill>
                <a:latin typeface="Microsoft YaHei Light"/>
                <a:ea typeface="Microsoft YaHei Light"/>
                <a:cs typeface="Microsoft YaHei Light"/>
              </a:defRPr>
            </a:pPr>
            <a:r>
              <a:rPr sz="1350" b="0">
                <a:solidFill>
                  <a:srgbClr val="123C39"/>
                </a:solidFill>
                <a:latin typeface="Microsoft YaHei Light"/>
                <a:ea typeface="Microsoft YaHei Light"/>
                <a:cs typeface="Microsoft YaHei Light"/>
              </a:rPr>
              <a:t>• request / uploadFile / downloadFile 合法域名已配置 HTTPS 域名。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350" b="0">
                <a:solidFill>
                  <a:srgbClr val="123C39"/>
                </a:solidFill>
                <a:latin typeface="Microsoft YaHei Light"/>
                <a:ea typeface="Microsoft YaHei Light"/>
                <a:cs typeface="Microsoft YaHei Light"/>
              </a:defRPr>
            </a:pPr>
            <a:r>
              <a:rPr sz="1350" b="0">
                <a:solidFill>
                  <a:srgbClr val="123C39"/>
                </a:solidFill>
                <a:latin typeface="Microsoft YaHei Light"/>
                <a:ea typeface="Microsoft YaHei Light"/>
                <a:cs typeface="Microsoft YaHei Light"/>
              </a:rPr>
              <a:t>• 小程序包体保持在 2MB 以下，图片压缩后再上传。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350" b="0">
                <a:solidFill>
                  <a:srgbClr val="123C39"/>
                </a:solidFill>
                <a:latin typeface="Microsoft YaHei Light"/>
                <a:ea typeface="Microsoft YaHei Light"/>
                <a:cs typeface="Microsoft YaHei Light"/>
              </a:defRPr>
            </a:pPr>
            <a:r>
              <a:rPr sz="1350" b="0">
                <a:solidFill>
                  <a:srgbClr val="123C39"/>
                </a:solidFill>
                <a:latin typeface="Microsoft YaHei Light"/>
                <a:ea typeface="Microsoft YaHei Light"/>
                <a:cs typeface="Microsoft YaHei Light"/>
              </a:rPr>
              <a:t>• 个人认证阶段不出现在线收款主流程，农品采用预订与后台确认。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350" b="0">
                <a:solidFill>
                  <a:srgbClr val="123C39"/>
                </a:solidFill>
                <a:latin typeface="Microsoft YaHei Light"/>
                <a:ea typeface="Microsoft YaHei Light"/>
                <a:cs typeface="Microsoft YaHei Light"/>
              </a:defRPr>
            </a:pPr>
            <a:r>
              <a:rPr sz="1350" b="0">
                <a:solidFill>
                  <a:srgbClr val="123C39"/>
                </a:solidFill>
                <a:latin typeface="Microsoft YaHei Light"/>
                <a:ea typeface="Microsoft YaHei Light"/>
                <a:cs typeface="Microsoft YaHei Light"/>
              </a:rPr>
              <a:t>• AI 助手标明测试版能力边界，不把未稳定接入的自由问答包装成正式能力。</a:t>
            </a:r>
          </a:p>
        </p:txBody>
      </p:sp>
    </p:spTree>
    <p:extLst>
      <p:ext uri="{BB962C8B-B14F-4D97-AF65-F5344CB8AC3E}">
        <p14:creationId xmlns:p14="http://schemas.microsoft.com/office/powerpoint/2010/main" val="11122247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2026-08-02T09:27:40.2120000Z</dcterms:created>
  <dcterms:modified xsi:type="dcterms:W3CDTF">2026-08-02T09:27:40.2130000Z</dcterms:modified>
</coreProperties>
</file>